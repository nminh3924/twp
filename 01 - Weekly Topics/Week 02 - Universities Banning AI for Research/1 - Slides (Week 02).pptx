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9" r:id="rId2"/>
    <p:sldId id="257" r:id="rId4"/>
    <p:sldId id="260" r:id="rId5"/>
    <p:sldId id="268" r:id="rId13"/>
    <p:sldId id="258" r:id="rId7"/>
    <p:sldId id="265" r:id="rId10"/>
    <p:sldId id="267" r:id="rId12"/>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21" d="100"/>
          <a:sy n="121" d="100"/>
        </p:scale>
        <p:origin x="384"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10" Type="http://schemas.openxmlformats.org/officeDocument/2006/relationships/slide" Target="slides/slide9.xml"/><Relationship Id="rId12" Type="http://schemas.openxmlformats.org/officeDocument/2006/relationships/slide" Target="slides/slide11.xml"/><Relationship Id="rId13" Type="http://schemas.openxmlformats.org/officeDocument/2006/relationships/slide" Target="slides/slide8.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12/12/2022</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12/12/2022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Today, our group is going to talk about a topic that is causing a lot of debate: Should universities completely ban AI in graduation theses and scientific research?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 honest, our group completely understands why some universities have introduced a ban. School leaders and teachers worry that AI will create fake citations, make students stop thinking for themselves, or even worse, write the whole assignment for them. However, in our view, a total ban is not the best solution. What we really need is a clear set of rules for using AI transparently.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think AI is a great tool. However, because it is still very new, people feel overwhelmed and don't yet know how to control it or use it to its full potential. But AI is clearly going to be a huge trend in the near future. If we ban it completely, both students and teachers will have fewer opportunities to use and study AI, which means we might fall behind.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back at history, this kind of worry is nothing new. In the 1970s, people were afraid that pocket calculators would ruin students' math skills. Around that same time, when modern programming languages appeared, people feared losing the skill of punch-card programming. In the 2000s, people worried that Google would kill libraries. But as you can see, all of these tools are now widely used, and nobody complains about them anymore. And now, it is the turn of AI. Around 2023 and 2024, some scientific papers were retracted simply because the authors forgot to delete the phrase 'As an AI language model...'. Clearly, the problem wasn't the tool itself, but how people used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top journals and publishers like Nature, Science, and IEEE do not ban AI. They only ask authors to be fully transparent. So where is the line? AI can definitely work as a helpful assistant, for finding materials, suggesting code for data processing, or checking grammar. But AI must never be the author: no making up data, no fake references, and no writing the whole paper.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this, our group proposes three simple but effective rules. Humans come first: Authors must take 100% responsibility for all data and conclusions in their research. Check the sources: Read and verify original sources yourself before putting them in your reference list. Be transparent: Clearly state which AI tools you used and at which step of your work. Instead of banning AI, our group believes universities should actively guide students on how to control and master this technology. That is the best way for all of us to move forward together. Thank you all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6152509-8D0C-4712-AA81-AF54972C78DB}"/>
              </a:ext>
            </a:extLst>
          </p:cNvPr>
          <p:cNvSpPr>
            <a:spLocks noGrp="1"/>
          </p:cNvSpPr>
          <p:nvPr>
            <p:ph type="dt" sz="half" idx="10"/>
          </p:nvPr>
        </p:nvSpPr>
        <p:spPr>
          <a:xfrm>
            <a:off x="838200" y="6486006"/>
            <a:ext cx="27432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58E92B09-5AF4-4E86-A8BE-E866F0E2C017}" type="datetime1">
              <a:rPr lang="en-US" smtClean="0"/>
              <a:pPr/>
              <a:t>12/12/2022</a:t>
            </a:fld>
            <a:endParaRPr lang="en-US" dirty="0"/>
          </a:p>
        </p:txBody>
      </p:sp>
      <p:sp>
        <p:nvSpPr>
          <p:cNvPr id="10" name="Footer Placeholder 4">
            <a:extLst>
              <a:ext uri="{FF2B5EF4-FFF2-40B4-BE49-F238E27FC236}">
                <a16:creationId xmlns:a16="http://schemas.microsoft.com/office/drawing/2014/main" id="{A9A90DE7-FAAB-4B91-AC83-B18850F1EC89}"/>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1" name="Slide Number Placeholder 5">
            <a:extLst>
              <a:ext uri="{FF2B5EF4-FFF2-40B4-BE49-F238E27FC236}">
                <a16:creationId xmlns:a16="http://schemas.microsoft.com/office/drawing/2014/main" id="{0FD5971E-BD21-416C-BC2E-97EE0E09A50C}"/>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407957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12/12/2022</a:t>
            </a:fld>
            <a:endParaRPr lang="en-US" dirty="0"/>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7" name="Title 8">
            <a:extLst>
              <a:ext uri="{FF2B5EF4-FFF2-40B4-BE49-F238E27FC236}">
                <a16:creationId xmlns:a16="http://schemas.microsoft.com/office/drawing/2014/main" id="{DEAFB3E9-4F5E-435C-B51A-CC5766A852D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a:t>
            </a:r>
          </a:p>
        </p:txBody>
      </p:sp>
      <p:sp>
        <p:nvSpPr>
          <p:cNvPr id="8" name="Content Placeholder 7">
            <a:extLst>
              <a:ext uri="{FF2B5EF4-FFF2-40B4-BE49-F238E27FC236}">
                <a16:creationId xmlns:a16="http://schemas.microsoft.com/office/drawing/2014/main" id="{69C57778-6639-411E-9B4C-12D035AECE27}"/>
              </a:ext>
            </a:extLst>
          </p:cNvPr>
          <p:cNvSpPr>
            <a:spLocks noGrp="1"/>
          </p:cNvSpPr>
          <p:nvPr>
            <p:ph sz="quarter" idx="13"/>
          </p:nvPr>
        </p:nvSpPr>
        <p:spPr>
          <a:xfrm>
            <a:off x="338736" y="1058844"/>
            <a:ext cx="11514528" cy="490912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1329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12/12/2022</a:t>
            </a:fld>
            <a:endParaRPr lang="en-US" dirty="0"/>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3887669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12/12/2022</a:t>
            </a:fld>
            <a:endParaRPr lang="en-US" dirty="0"/>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9581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8A78F82-82C6-4F07-B7D8-4A1219A1BB4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19A9EFEF-A194-4819-82D7-1112425D0E86}" type="datetime1">
              <a:rPr lang="en-US" smtClean="0"/>
              <a:pPr/>
              <a:t>12/12/2022</a:t>
            </a:fld>
            <a:endParaRPr lang="en-US"/>
          </a:p>
        </p:txBody>
      </p:sp>
      <p:sp>
        <p:nvSpPr>
          <p:cNvPr id="8" name="Footer Placeholder 4">
            <a:extLst>
              <a:ext uri="{FF2B5EF4-FFF2-40B4-BE49-F238E27FC236}">
                <a16:creationId xmlns:a16="http://schemas.microsoft.com/office/drawing/2014/main" id="{12041C72-5CA2-4523-9F1E-50662A3276CE}"/>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3AD6B24F-6759-4931-A1C4-77BA8AF7E085}"/>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0" name="Title 8">
            <a:extLst>
              <a:ext uri="{FF2B5EF4-FFF2-40B4-BE49-F238E27FC236}">
                <a16:creationId xmlns:a16="http://schemas.microsoft.com/office/drawing/2014/main" id="{1CD850F7-B0EC-49AD-960D-051EAF5F36DD}"/>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a:t>
            </a:r>
          </a:p>
        </p:txBody>
      </p:sp>
      <p:sp>
        <p:nvSpPr>
          <p:cNvPr id="11" name="Chart Placeholder 14">
            <a:extLst>
              <a:ext uri="{FF2B5EF4-FFF2-40B4-BE49-F238E27FC236}">
                <a16:creationId xmlns:a16="http://schemas.microsoft.com/office/drawing/2014/main" id="{4A80550F-98CB-400B-9D36-210A7AED20E8}"/>
              </a:ext>
            </a:extLst>
          </p:cNvPr>
          <p:cNvSpPr>
            <a:spLocks noGrp="1"/>
          </p:cNvSpPr>
          <p:nvPr>
            <p:ph type="chart" sz="quarter" idx="13" hasCustomPrompt="1"/>
          </p:nvPr>
        </p:nvSpPr>
        <p:spPr>
          <a:xfrm>
            <a:off x="338736" y="1406525"/>
            <a:ext cx="5757264" cy="4670425"/>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2" name="Table Placeholder 16">
            <a:extLst>
              <a:ext uri="{FF2B5EF4-FFF2-40B4-BE49-F238E27FC236}">
                <a16:creationId xmlns:a16="http://schemas.microsoft.com/office/drawing/2014/main" id="{15345DA2-1E92-473D-9483-A24F87614F3D}"/>
              </a:ext>
            </a:extLst>
          </p:cNvPr>
          <p:cNvSpPr>
            <a:spLocks noGrp="1"/>
          </p:cNvSpPr>
          <p:nvPr>
            <p:ph type="tbl" sz="quarter" idx="14" hasCustomPrompt="1"/>
          </p:nvPr>
        </p:nvSpPr>
        <p:spPr>
          <a:xfrm>
            <a:off x="6210300" y="1392239"/>
            <a:ext cx="5592763" cy="46847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Table</a:t>
            </a:r>
          </a:p>
        </p:txBody>
      </p:sp>
    </p:spTree>
    <p:extLst>
      <p:ext uri="{BB962C8B-B14F-4D97-AF65-F5344CB8AC3E}">
        <p14:creationId xmlns:p14="http://schemas.microsoft.com/office/powerpoint/2010/main" val="32426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4F1F29B1-F2F8-4527-A0B9-5A566F0DB568}"/>
              </a:ext>
            </a:extLst>
          </p:cNvPr>
          <p:cNvSpPr>
            <a:spLocks noGrp="1"/>
          </p:cNvSpPr>
          <p:nvPr>
            <p:ph type="dt" sz="half" idx="10"/>
          </p:nvPr>
        </p:nvSpPr>
        <p:spPr>
          <a:xfrm>
            <a:off x="838200" y="6486006"/>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EEBFCEF3-2DDE-476B-8A96-303EC557333C}" type="datetime1">
              <a:rPr lang="en-US" smtClean="0"/>
              <a:pPr/>
              <a:t>12/12/2022</a:t>
            </a:fld>
            <a:endParaRPr lang="en-US"/>
          </a:p>
        </p:txBody>
      </p:sp>
      <p:sp>
        <p:nvSpPr>
          <p:cNvPr id="7" name="Footer Placeholder 4">
            <a:extLst>
              <a:ext uri="{FF2B5EF4-FFF2-40B4-BE49-F238E27FC236}">
                <a16:creationId xmlns:a16="http://schemas.microsoft.com/office/drawing/2014/main" id="{B1F89192-9608-4DA0-9D58-CE5D74F0161B}"/>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8" name="Slide Number Placeholder 5">
            <a:extLst>
              <a:ext uri="{FF2B5EF4-FFF2-40B4-BE49-F238E27FC236}">
                <a16:creationId xmlns:a16="http://schemas.microsoft.com/office/drawing/2014/main" id="{41300396-45C9-472A-AA37-70408F1C2FAF}"/>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9" name="Content Placeholder 4">
            <a:extLst>
              <a:ext uri="{FF2B5EF4-FFF2-40B4-BE49-F238E27FC236}">
                <a16:creationId xmlns:a16="http://schemas.microsoft.com/office/drawing/2014/main" id="{45B855E6-8413-49D5-929E-33A3B3627516}"/>
              </a:ext>
            </a:extLst>
          </p:cNvPr>
          <p:cNvSpPr>
            <a:spLocks noGrp="1"/>
          </p:cNvSpPr>
          <p:nvPr>
            <p:ph sz="quarter" idx="13"/>
          </p:nvPr>
        </p:nvSpPr>
        <p:spPr>
          <a:xfrm>
            <a:off x="4558372" y="1248325"/>
            <a:ext cx="7391400" cy="520541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8">
            <a:extLst>
              <a:ext uri="{FF2B5EF4-FFF2-40B4-BE49-F238E27FC236}">
                <a16:creationId xmlns:a16="http://schemas.microsoft.com/office/drawing/2014/main" id="{AB6BBE52-BFE6-4B4F-95C1-25C2EB84A64F}"/>
              </a:ext>
            </a:extLst>
          </p:cNvPr>
          <p:cNvSpPr>
            <a:spLocks noGrp="1"/>
          </p:cNvSpPr>
          <p:nvPr>
            <p:ph type="title" hasCustomPrompt="1"/>
          </p:nvPr>
        </p:nvSpPr>
        <p:spPr>
          <a:xfrm>
            <a:off x="4558372" y="404265"/>
            <a:ext cx="7391400" cy="436098"/>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a:t>
            </a:r>
          </a:p>
        </p:txBody>
      </p:sp>
    </p:spTree>
    <p:extLst>
      <p:ext uri="{BB962C8B-B14F-4D97-AF65-F5344CB8AC3E}">
        <p14:creationId xmlns:p14="http://schemas.microsoft.com/office/powerpoint/2010/main" val="4113439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12/12/2022</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1791335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12/12/2022</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960585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8">
            <a:extLst>
              <a:ext uri="{FF2B5EF4-FFF2-40B4-BE49-F238E27FC236}">
                <a16:creationId xmlns:a16="http://schemas.microsoft.com/office/drawing/2014/main" id="{3E6AE9CF-41FF-46D0-BF7A-815E4777895E}"/>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a:t>
            </a:r>
          </a:p>
        </p:txBody>
      </p:sp>
      <p:sp>
        <p:nvSpPr>
          <p:cNvPr id="12" name="Text Placeholder 9">
            <a:extLst>
              <a:ext uri="{FF2B5EF4-FFF2-40B4-BE49-F238E27FC236}">
                <a16:creationId xmlns:a16="http://schemas.microsoft.com/office/drawing/2014/main" id="{A85E41C6-3987-4F5C-A750-35F5C730A567}"/>
              </a:ext>
            </a:extLst>
          </p:cNvPr>
          <p:cNvSpPr>
            <a:spLocks noGrp="1"/>
          </p:cNvSpPr>
          <p:nvPr>
            <p:ph type="body" sz="quarter" idx="13"/>
          </p:nvPr>
        </p:nvSpPr>
        <p:spPr>
          <a:xfrm>
            <a:off x="337539" y="1032510"/>
            <a:ext cx="11515725" cy="493871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C99BA7CA-DC84-4A35-BD8A-C14D582181A5}"/>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8CDB0C24-DFE0-41C5-B02D-FC32F5C22F7C}" type="datetime1">
              <a:rPr lang="en-US" smtClean="0"/>
              <a:pPr/>
              <a:t>12/12/2022</a:t>
            </a:fld>
            <a:endParaRPr lang="en-US"/>
          </a:p>
        </p:txBody>
      </p:sp>
      <p:sp>
        <p:nvSpPr>
          <p:cNvPr id="14" name="Footer Placeholder 4">
            <a:extLst>
              <a:ext uri="{FF2B5EF4-FFF2-40B4-BE49-F238E27FC236}">
                <a16:creationId xmlns:a16="http://schemas.microsoft.com/office/drawing/2014/main" id="{E1DCC345-F4E6-42D6-9173-88011D0E2741}"/>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5" name="Slide Number Placeholder 5">
            <a:extLst>
              <a:ext uri="{FF2B5EF4-FFF2-40B4-BE49-F238E27FC236}">
                <a16:creationId xmlns:a16="http://schemas.microsoft.com/office/drawing/2014/main" id="{BD82AFB1-CD7C-4710-A82A-F9FEE6DA5C86}"/>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750032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84B5929F-A28F-4256-A6B2-5D095331D016}"/>
              </a:ext>
            </a:extLst>
          </p:cNvPr>
          <p:cNvSpPr>
            <a:spLocks noGrp="1"/>
          </p:cNvSpPr>
          <p:nvPr>
            <p:ph type="dt" sz="half" idx="10"/>
          </p:nvPr>
        </p:nvSpPr>
        <p:spPr>
          <a:xfrm>
            <a:off x="838200" y="6486006"/>
            <a:ext cx="2743200" cy="365125"/>
          </a:xfrm>
          <a:prstGeom prst="rect">
            <a:avLst/>
          </a:prstGeom>
        </p:spPr>
        <p:txBody>
          <a:bodyPr/>
          <a:lstStyle>
            <a:lvl1pP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B3ACFEBC-8634-4116-B617-2BE5C2034C2C}" type="datetime1">
              <a:rPr lang="en-US" smtClean="0"/>
              <a:pPr/>
              <a:t>12/12/2022</a:t>
            </a:fld>
            <a:endParaRPr lang="en-US"/>
          </a:p>
        </p:txBody>
      </p:sp>
      <p:sp>
        <p:nvSpPr>
          <p:cNvPr id="9" name="Footer Placeholder 4">
            <a:extLst>
              <a:ext uri="{FF2B5EF4-FFF2-40B4-BE49-F238E27FC236}">
                <a16:creationId xmlns:a16="http://schemas.microsoft.com/office/drawing/2014/main" id="{7C2F339A-915E-4496-B889-28FBBAAD3123}"/>
              </a:ext>
            </a:extLst>
          </p:cNvPr>
          <p:cNvSpPr>
            <a:spLocks noGrp="1"/>
          </p:cNvSpPr>
          <p:nvPr>
            <p:ph type="ftr" sz="quarter" idx="11"/>
          </p:nvPr>
        </p:nvSpPr>
        <p:spPr>
          <a:xfrm>
            <a:off x="4038600" y="6486006"/>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0" name="Slide Number Placeholder 5">
            <a:extLst>
              <a:ext uri="{FF2B5EF4-FFF2-40B4-BE49-F238E27FC236}">
                <a16:creationId xmlns:a16="http://schemas.microsoft.com/office/drawing/2014/main" id="{028A2E5F-7F4D-4F39-A494-67088E8046DE}"/>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
        <p:nvSpPr>
          <p:cNvPr id="11" name="Title 8">
            <a:extLst>
              <a:ext uri="{FF2B5EF4-FFF2-40B4-BE49-F238E27FC236}">
                <a16:creationId xmlns:a16="http://schemas.microsoft.com/office/drawing/2014/main" id="{FC0C4515-8106-49DA-9C06-E98AF815242A}"/>
              </a:ext>
            </a:extLst>
          </p:cNvPr>
          <p:cNvSpPr>
            <a:spLocks noGrp="1"/>
          </p:cNvSpPr>
          <p:nvPr>
            <p:ph type="title" hasCustomPrompt="1"/>
          </p:nvPr>
        </p:nvSpPr>
        <p:spPr>
          <a:xfrm>
            <a:off x="338736" y="112543"/>
            <a:ext cx="11514528" cy="436098"/>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a:t>
            </a:r>
          </a:p>
        </p:txBody>
      </p:sp>
      <p:sp>
        <p:nvSpPr>
          <p:cNvPr id="12" name="Chart Placeholder 9">
            <a:extLst>
              <a:ext uri="{FF2B5EF4-FFF2-40B4-BE49-F238E27FC236}">
                <a16:creationId xmlns:a16="http://schemas.microsoft.com/office/drawing/2014/main" id="{F49327FB-190B-40C4-9FC9-66F9F7D12317}"/>
              </a:ext>
            </a:extLst>
          </p:cNvPr>
          <p:cNvSpPr>
            <a:spLocks noGrp="1"/>
          </p:cNvSpPr>
          <p:nvPr>
            <p:ph type="chart" sz="quarter" idx="13" hasCustomPrompt="1"/>
          </p:nvPr>
        </p:nvSpPr>
        <p:spPr>
          <a:xfrm>
            <a:off x="330201" y="1406769"/>
            <a:ext cx="5765800" cy="4655894"/>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Chart</a:t>
            </a:r>
          </a:p>
        </p:txBody>
      </p:sp>
      <p:sp>
        <p:nvSpPr>
          <p:cNvPr id="13" name="Picture Placeholder 11">
            <a:extLst>
              <a:ext uri="{FF2B5EF4-FFF2-40B4-BE49-F238E27FC236}">
                <a16:creationId xmlns:a16="http://schemas.microsoft.com/office/drawing/2014/main" id="{733EBCBB-E1FE-415C-8ED9-6D1F36748478}"/>
              </a:ext>
            </a:extLst>
          </p:cNvPr>
          <p:cNvSpPr>
            <a:spLocks noGrp="1"/>
          </p:cNvSpPr>
          <p:nvPr>
            <p:ph type="pic" sz="quarter" idx="14" hasCustomPrompt="1"/>
          </p:nvPr>
        </p:nvSpPr>
        <p:spPr>
          <a:xfrm>
            <a:off x="6238875" y="1414463"/>
            <a:ext cx="5445125" cy="4656137"/>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stStyle>
          <a:p>
            <a:r>
              <a:rPr lang="en-US" dirty="0"/>
              <a:t>Picture</a:t>
            </a:r>
          </a:p>
        </p:txBody>
      </p:sp>
    </p:spTree>
    <p:extLst>
      <p:ext uri="{BB962C8B-B14F-4D97-AF65-F5344CB8AC3E}">
        <p14:creationId xmlns:p14="http://schemas.microsoft.com/office/powerpoint/2010/main" val="1226200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A21A061D-9F38-49ED-BAF8-8055D9FB97A5}"/>
              </a:ext>
            </a:extLst>
          </p:cNvPr>
          <p:cNvSpPr>
            <a:spLocks noGrp="1"/>
          </p:cNvSpPr>
          <p:nvPr>
            <p:ph type="dt" sz="half" idx="10"/>
          </p:nvPr>
        </p:nvSpPr>
        <p:spPr>
          <a:xfrm>
            <a:off x="838200" y="6492875"/>
            <a:ext cx="2743200" cy="365125"/>
          </a:xfrm>
          <a:prstGeom prst="rect">
            <a:avLst/>
          </a:prstGeom>
        </p:spPr>
        <p:txBody>
          <a:bodyPr/>
          <a:lstStyle>
            <a:lvl1pPr>
              <a:defRPr sz="12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fld id="{82F65D4C-DEE4-4C7B-91C4-D6D57A523E98}" type="datetime1">
              <a:rPr lang="en-US" smtClean="0"/>
              <a:pPr/>
              <a:t>12/12/2022</a:t>
            </a:fld>
            <a:endParaRPr lang="en-US"/>
          </a:p>
        </p:txBody>
      </p:sp>
      <p:sp>
        <p:nvSpPr>
          <p:cNvPr id="9" name="Footer Placeholder 4">
            <a:extLst>
              <a:ext uri="{FF2B5EF4-FFF2-40B4-BE49-F238E27FC236}">
                <a16:creationId xmlns:a16="http://schemas.microsoft.com/office/drawing/2014/main" id="{490FAA6E-46AD-4366-8E80-2F5BEB7D5B24}"/>
              </a:ext>
            </a:extLst>
          </p:cNvPr>
          <p:cNvSpPr>
            <a:spLocks noGrp="1"/>
          </p:cNvSpPr>
          <p:nvPr>
            <p:ph type="ftr" sz="quarter" idx="11"/>
          </p:nvPr>
        </p:nvSpPr>
        <p:spPr>
          <a:xfrm>
            <a:off x="4038600" y="6492875"/>
            <a:ext cx="4114800" cy="365125"/>
          </a:xfrm>
          <a:prstGeom prst="rect">
            <a:avLst/>
          </a:prstGeom>
        </p:spPr>
        <p:txBody>
          <a:bodyPr/>
          <a:lstStyle>
            <a:lvl1pPr algn="ct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10" name="Slide Number Placeholder 5">
            <a:extLst>
              <a:ext uri="{FF2B5EF4-FFF2-40B4-BE49-F238E27FC236}">
                <a16:creationId xmlns:a16="http://schemas.microsoft.com/office/drawing/2014/main" id="{9A5604C7-0828-446E-97CC-8D6162E69E60}"/>
              </a:ext>
            </a:extLst>
          </p:cNvPr>
          <p:cNvSpPr>
            <a:spLocks noGrp="1"/>
          </p:cNvSpPr>
          <p:nvPr>
            <p:ph type="sldNum" sz="quarter" idx="12"/>
          </p:nvPr>
        </p:nvSpPr>
        <p:spPr>
          <a:xfrm>
            <a:off x="9156511" y="6492875"/>
            <a:ext cx="2743200" cy="365125"/>
          </a:xfrm>
          <a:prstGeom prst="rect">
            <a:avLst/>
          </a:prstGeom>
        </p:spPr>
        <p:txBody>
          <a:bodyPr/>
          <a:lstStyle>
            <a:lvl1pPr algn="r">
              <a:defRPr sz="1200" b="1">
                <a:solidFill>
                  <a:srgbClr val="00376F"/>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a:p>
        </p:txBody>
      </p:sp>
    </p:spTree>
    <p:extLst>
      <p:ext uri="{BB962C8B-B14F-4D97-AF65-F5344CB8AC3E}">
        <p14:creationId xmlns:p14="http://schemas.microsoft.com/office/powerpoint/2010/main" val="20148816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0333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4">
            <a:extLst>
              <a:ext uri="{FF2B5EF4-FFF2-40B4-BE49-F238E27FC236}">
                <a16:creationId xmlns:a16="http://schemas.microsoft.com/office/drawing/2014/main" id="{4C167836-5AFF-4757-AB55-39FD3BBF9D47}"/>
              </a:ext>
            </a:extLst>
          </p:cNvPr>
          <p:cNvSpPr>
            <a:spLocks noGrp="1"/>
          </p:cNvSpPr>
          <p:nvPr>
            <p:ph type="title" hasCustomPrompt="1"/>
          </p:nvPr>
        </p:nvSpPr>
        <p:spPr>
          <a:xfrm>
            <a:off x="3788898" y="2461846"/>
            <a:ext cx="4614203" cy="1934307"/>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98152027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9543385"/>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5" r:id="rId5"/>
    <p:sldLayoutId id="2147483654" r:id="rId6"/>
    <p:sldLayoutId id="2147483660" r:id="rId7"/>
    <p:sldLayoutId id="2147483659" r:id="rId8"/>
    <p:sldLayoutId id="2147483658" r:id="rId9"/>
    <p:sldLayoutId id="2147483661" r:id="rId10"/>
    <p:sldLayoutId id="2147483656" r:id="rId11"/>
    <p:sldLayoutId id="2147483657" r:id="rId12"/>
    <p:sldLayoutId id="2147483649"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355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37FC17F-78B9-4DA3-B1E3-B6651CB174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86634" y="331380"/>
            <a:ext cx="3174367" cy="952975"/>
          </a:xfrm>
          <a:prstGeom prst="rect">
            <a:avLst/>
          </a:prstGeom>
        </p:spPr>
      </p:pic>
      <p:sp>
        <p:nvSpPr>
          <p:cNvPr id="3" name="Title 6">
            <a:extLst>
              <a:ext uri="{FF2B5EF4-FFF2-40B4-BE49-F238E27FC236}">
                <a16:creationId xmlns:a16="http://schemas.microsoft.com/office/drawing/2014/main" id="{5702E00C-3125-4CD1-A5F8-64723BF48E3E}"/>
              </a:ext>
            </a:extLst>
          </p:cNvPr>
          <p:cNvSpPr txBox="1">
            <a:spLocks/>
          </p:cNvSpPr>
          <p:nvPr/>
        </p:nvSpPr>
        <p:spPr>
          <a:xfrm>
            <a:off x="386634" y="1737360"/>
            <a:ext cx="9418320" cy="1600200"/>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sz="4800"/>
              <a:t>SHOULD UNIVERSITIES</a:t>
            </a:r>
          </a:p>
          <a:p>
            <a:r>
              <a:rPr lang="en-US" dirty="0" sz="4800"/>
              <a:t>BAN AI FOR RESEARCH?</a:t>
            </a:r>
          </a:p>
        </p:txBody>
      </p:sp>
      <p:sp>
        <p:nvSpPr>
          <p:cNvPr id="4" name="Title 6">
            <a:extLst>
              <a:ext uri="{FF2B5EF4-FFF2-40B4-BE49-F238E27FC236}">
                <a16:creationId xmlns:a16="http://schemas.microsoft.com/office/drawing/2014/main" id="{72BF49D9-2FCE-4950-8B1C-F580CC18F4C9}"/>
              </a:ext>
            </a:extLst>
          </p:cNvPr>
          <p:cNvSpPr txBox="1">
            <a:spLocks/>
          </p:cNvSpPr>
          <p:nvPr/>
        </p:nvSpPr>
        <p:spPr>
          <a:xfrm>
            <a:off x="386634" y="3611880"/>
            <a:ext cx="9418320" cy="1005840"/>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400" b="0" dirty="0"/>
              <a:t>TEAM AI4LIFE</a:t>
            </a:r>
          </a:p>
          <a:p>
            <a:r>
              <a:rPr lang="en-US" sz="2400" b="0" dirty="0"/>
              <a:t>TECHNICAL WRITING AND PRESENTATION</a:t>
            </a:r>
          </a:p>
        </p:txBody>
      </p:sp>
      <p:sp>
        <p:nvSpPr>
          <p:cNvPr id="9" name="Slide Number Placeholder 8">
            <a:extLst>
              <a:ext uri="{FF2B5EF4-FFF2-40B4-BE49-F238E27FC236}">
                <a16:creationId xmlns:a16="http://schemas.microsoft.com/office/drawing/2014/main" id="{99BF4829-01AB-4F75-A03B-DF4FC4C312C6}"/>
              </a:ext>
            </a:extLst>
          </p:cNvPr>
          <p:cNvSpPr>
            <a:spLocks noGrp="1"/>
          </p:cNvSpPr>
          <p:nvPr>
            <p:ph type="sldNum" sz="quarter" idx="12"/>
          </p:nvPr>
        </p:nvSpPr>
        <p:spPr/>
        <p:txBody>
          <a:bodyPr/>
          <a:lstStyle/>
          <a:p>
            <a:fld id="{9EA0BE3B-158A-4EDF-80DC-E394A0D1600F}" type="slidenum">
              <a:rPr lang="en-US" smtClean="0"/>
              <a:pPr/>
              <a:t>3</a:t>
            </a:fld>
            <a:endParaRPr lang="en-US"/>
          </a:p>
        </p:txBody>
      </p:sp>
    </p:spTree>
    <p:extLst>
      <p:ext uri="{BB962C8B-B14F-4D97-AF65-F5344CB8AC3E}">
        <p14:creationId xmlns:p14="http://schemas.microsoft.com/office/powerpoint/2010/main" val="743172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B3AB5-95DF-4273-871C-843529DB7255}"/>
              </a:ext>
            </a:extLst>
          </p:cNvPr>
          <p:cNvSpPr>
            <a:spLocks noGrp="1"/>
          </p:cNvSpPr>
          <p:nvPr>
            <p:ph type="title"/>
          </p:nvPr>
        </p:nvSpPr>
        <p:spPr/>
        <p:txBody>
          <a:bodyPr/>
          <a:lstStyle/>
          <a:p>
            <a:r>
              <a:t>Real Fears, but a Total Ban Is Not the Answer</a:t>
            </a:r>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5" name="TextBox 4"/>
          <p:cNvSpPr txBox="1"/>
          <p:nvPr/>
        </p:nvSpPr>
        <p:spPr>
          <a:xfrm>
            <a:off x="548640" y="1097280"/>
            <a:ext cx="7315200" cy="320040"/>
          </a:xfrm>
          <a:prstGeom prst="rect">
            <a:avLst/>
          </a:prstGeom>
          <a:noFill/>
        </p:spPr>
        <p:txBody>
          <a:bodyPr wrap="square" anchor="t" lIns="0" rIns="0" tIns="27432" bIns="27432">
            <a:spAutoFit/>
          </a:bodyPr>
          <a:lstStyle/>
          <a:p>
            <a:pPr algn="l"/>
            <a:r>
              <a:rPr sz="1400" b="1">
                <a:solidFill>
                  <a:srgbClr val="C00000"/>
                </a:solidFill>
                <a:latin typeface="Lato"/>
              </a:rPr>
              <a:t>WHY SOME UNIVERSITIES BAN AI</a:t>
            </a:r>
          </a:p>
        </p:txBody>
      </p:sp>
      <p:sp>
        <p:nvSpPr>
          <p:cNvPr id="6" name="Rounded Rectangle 5"/>
          <p:cNvSpPr/>
          <p:nvPr/>
        </p:nvSpPr>
        <p:spPr>
          <a:xfrm>
            <a:off x="548640" y="1481328"/>
            <a:ext cx="3514344" cy="2331720"/>
          </a:xfrm>
          <a:prstGeom prst="roundRect">
            <a:avLst>
              <a:gd name="adj" fmla="val 6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2" y="1709928"/>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a:solidFill>
                  <a:srgbClr val="FFFFFF"/>
                </a:solidFill>
                <a:latin typeface="Lato"/>
              </a:rPr>
              <a:t>1</a:t>
            </a:r>
          </a:p>
        </p:txBody>
      </p:sp>
      <p:sp>
        <p:nvSpPr>
          <p:cNvPr id="8" name="TextBox 7"/>
          <p:cNvSpPr txBox="1"/>
          <p:nvPr/>
        </p:nvSpPr>
        <p:spPr>
          <a:xfrm>
            <a:off x="1508760" y="1709928"/>
            <a:ext cx="2325624" cy="566928"/>
          </a:xfrm>
          <a:prstGeom prst="rect">
            <a:avLst/>
          </a:prstGeom>
          <a:noFill/>
        </p:spPr>
        <p:txBody>
          <a:bodyPr wrap="square" anchor="ctr" lIns="0" rIns="0" tIns="27432" bIns="27432">
            <a:spAutoFit/>
          </a:bodyPr>
          <a:lstStyle/>
          <a:p>
            <a:pPr algn="l"/>
            <a:r>
              <a:rPr sz="2000" b="1">
                <a:solidFill>
                  <a:srgbClr val="C00000"/>
                </a:solidFill>
                <a:latin typeface="Lato"/>
              </a:rPr>
              <a:t>Fake citations</a:t>
            </a:r>
          </a:p>
        </p:txBody>
      </p:sp>
      <p:sp>
        <p:nvSpPr>
          <p:cNvPr id="9" name="TextBox 8"/>
          <p:cNvSpPr txBox="1"/>
          <p:nvPr/>
        </p:nvSpPr>
        <p:spPr>
          <a:xfrm>
            <a:off x="804672" y="2487168"/>
            <a:ext cx="3002280" cy="1188720"/>
          </a:xfrm>
          <a:prstGeom prst="rect">
            <a:avLst/>
          </a:prstGeom>
          <a:noFill/>
        </p:spPr>
        <p:txBody>
          <a:bodyPr wrap="square" anchor="t" lIns="0" rIns="0" tIns="27432" bIns="27432">
            <a:spAutoFit/>
          </a:bodyPr>
          <a:lstStyle/>
          <a:p>
            <a:pPr algn="l"/>
            <a:r>
              <a:rPr sz="1800" b="0">
                <a:solidFill>
                  <a:srgbClr val="262626"/>
                </a:solidFill>
                <a:latin typeface="Lato"/>
              </a:rPr>
              <a:t>AI creates citations that do not exist</a:t>
            </a:r>
          </a:p>
        </p:txBody>
      </p:sp>
      <p:sp>
        <p:nvSpPr>
          <p:cNvPr id="10" name="Rounded Rectangle 9"/>
          <p:cNvSpPr/>
          <p:nvPr/>
        </p:nvSpPr>
        <p:spPr>
          <a:xfrm>
            <a:off x="4337304" y="1481328"/>
            <a:ext cx="3514344" cy="2331720"/>
          </a:xfrm>
          <a:prstGeom prst="roundRect">
            <a:avLst>
              <a:gd name="adj" fmla="val 6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3336" y="1709928"/>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a:solidFill>
                  <a:srgbClr val="FFFFFF"/>
                </a:solidFill>
                <a:latin typeface="Lato"/>
              </a:rPr>
              <a:t>2</a:t>
            </a:r>
          </a:p>
        </p:txBody>
      </p:sp>
      <p:sp>
        <p:nvSpPr>
          <p:cNvPr id="12" name="TextBox 11"/>
          <p:cNvSpPr txBox="1"/>
          <p:nvPr/>
        </p:nvSpPr>
        <p:spPr>
          <a:xfrm>
            <a:off x="5297424" y="1709928"/>
            <a:ext cx="2325624" cy="566928"/>
          </a:xfrm>
          <a:prstGeom prst="rect">
            <a:avLst/>
          </a:prstGeom>
          <a:noFill/>
        </p:spPr>
        <p:txBody>
          <a:bodyPr wrap="square" anchor="ctr" lIns="0" rIns="0" tIns="27432" bIns="27432">
            <a:spAutoFit/>
          </a:bodyPr>
          <a:lstStyle/>
          <a:p>
            <a:pPr algn="l"/>
            <a:r>
              <a:rPr sz="2000" b="1">
                <a:solidFill>
                  <a:srgbClr val="C00000"/>
                </a:solidFill>
                <a:latin typeface="Lato"/>
              </a:rPr>
              <a:t>No more thinking</a:t>
            </a:r>
          </a:p>
        </p:txBody>
      </p:sp>
      <p:sp>
        <p:nvSpPr>
          <p:cNvPr id="13" name="TextBox 12"/>
          <p:cNvSpPr txBox="1"/>
          <p:nvPr/>
        </p:nvSpPr>
        <p:spPr>
          <a:xfrm>
            <a:off x="4593336" y="2487168"/>
            <a:ext cx="3002280" cy="1188720"/>
          </a:xfrm>
          <a:prstGeom prst="rect">
            <a:avLst/>
          </a:prstGeom>
          <a:noFill/>
        </p:spPr>
        <p:txBody>
          <a:bodyPr wrap="square" anchor="t" lIns="0" rIns="0" tIns="27432" bIns="27432">
            <a:spAutoFit/>
          </a:bodyPr>
          <a:lstStyle/>
          <a:p>
            <a:pPr algn="l"/>
            <a:r>
              <a:rPr sz="1800" b="0">
                <a:solidFill>
                  <a:srgbClr val="262626"/>
                </a:solidFill>
                <a:latin typeface="Lato"/>
              </a:rPr>
              <a:t>Students stop thinking for themselves</a:t>
            </a:r>
          </a:p>
        </p:txBody>
      </p:sp>
      <p:sp>
        <p:nvSpPr>
          <p:cNvPr id="14" name="Rounded Rectangle 13"/>
          <p:cNvSpPr/>
          <p:nvPr/>
        </p:nvSpPr>
        <p:spPr>
          <a:xfrm>
            <a:off x="8125968" y="1481328"/>
            <a:ext cx="3514344" cy="2331720"/>
          </a:xfrm>
          <a:prstGeom prst="roundRect">
            <a:avLst>
              <a:gd name="adj" fmla="val 6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81999" y="1709928"/>
            <a:ext cx="566928" cy="566928"/>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a:solidFill>
                  <a:srgbClr val="FFFFFF"/>
                </a:solidFill>
                <a:latin typeface="Lato"/>
              </a:rPr>
              <a:t>3</a:t>
            </a:r>
          </a:p>
        </p:txBody>
      </p:sp>
      <p:sp>
        <p:nvSpPr>
          <p:cNvPr id="16" name="TextBox 15"/>
          <p:cNvSpPr txBox="1"/>
          <p:nvPr/>
        </p:nvSpPr>
        <p:spPr>
          <a:xfrm>
            <a:off x="9086088" y="1709928"/>
            <a:ext cx="2325624" cy="566928"/>
          </a:xfrm>
          <a:prstGeom prst="rect">
            <a:avLst/>
          </a:prstGeom>
          <a:noFill/>
        </p:spPr>
        <p:txBody>
          <a:bodyPr wrap="square" anchor="ctr" lIns="0" rIns="0" tIns="27432" bIns="27432">
            <a:spAutoFit/>
          </a:bodyPr>
          <a:lstStyle/>
          <a:p>
            <a:pPr algn="l"/>
            <a:r>
              <a:rPr sz="2000" b="1">
                <a:solidFill>
                  <a:srgbClr val="C00000"/>
                </a:solidFill>
                <a:latin typeface="Lato"/>
              </a:rPr>
              <a:t>Written by AI</a:t>
            </a:r>
          </a:p>
        </p:txBody>
      </p:sp>
      <p:sp>
        <p:nvSpPr>
          <p:cNvPr id="17" name="TextBox 16"/>
          <p:cNvSpPr txBox="1"/>
          <p:nvPr/>
        </p:nvSpPr>
        <p:spPr>
          <a:xfrm>
            <a:off x="8381999" y="2487168"/>
            <a:ext cx="3002280" cy="1188720"/>
          </a:xfrm>
          <a:prstGeom prst="rect">
            <a:avLst/>
          </a:prstGeom>
          <a:noFill/>
        </p:spPr>
        <p:txBody>
          <a:bodyPr wrap="square" anchor="t" lIns="0" rIns="0" tIns="27432" bIns="27432">
            <a:spAutoFit/>
          </a:bodyPr>
          <a:lstStyle/>
          <a:p>
            <a:pPr algn="l"/>
            <a:r>
              <a:rPr sz="1800" b="0">
                <a:solidFill>
                  <a:srgbClr val="262626"/>
                </a:solidFill>
                <a:latin typeface="Lato"/>
              </a:rPr>
              <a:t>AI writes the whole assignment for them</a:t>
            </a:r>
          </a:p>
        </p:txBody>
      </p:sp>
      <p:sp>
        <p:nvSpPr>
          <p:cNvPr id="18" name="Rounded Rectangle 17"/>
          <p:cNvSpPr/>
          <p:nvPr/>
        </p:nvSpPr>
        <p:spPr>
          <a:xfrm>
            <a:off x="548640" y="4114800"/>
            <a:ext cx="11091672" cy="1280160"/>
          </a:xfrm>
          <a:prstGeom prst="roundRect">
            <a:avLst>
              <a:gd name="adj" fmla="val 6000"/>
            </a:avLst>
          </a:prstGeom>
          <a:solidFill>
            <a:srgbClr val="0037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tIns="27432" bIns="27432"/>
          <a:lstStyle/>
          <a:p>
            <a:pPr algn="l">
              <a:spcAft>
                <a:spcPts val="400"/>
              </a:spcAft>
            </a:pPr>
            <a:r>
              <a:rPr sz="1400" b="1">
                <a:solidFill>
                  <a:srgbClr val="FFFFFF"/>
                </a:solidFill>
                <a:latin typeface="Lato"/>
              </a:rPr>
              <a:t>OUR VIEW</a:t>
            </a:r>
          </a:p>
          <a:p>
            <a:pPr algn="l"/>
            <a:r>
              <a:rPr sz="2200" b="1">
                <a:solidFill>
                  <a:srgbClr val="FFFFFF"/>
                </a:solidFill>
                <a:latin typeface="Lato"/>
              </a:rPr>
              <a:t>A total ban is not the best solution. We need clear rules for using AI transparently.</a:t>
            </a:r>
          </a:p>
        </p:txBody>
      </p:sp>
    </p:spTree>
    <p:extLst>
      <p:ext uri="{BB962C8B-B14F-4D97-AF65-F5344CB8AC3E}">
        <p14:creationId xmlns:p14="http://schemas.microsoft.com/office/powerpoint/2010/main" val="221433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5D019-96A4-4D1E-AFB5-09D65C86E12D}"/>
              </a:ext>
            </a:extLst>
          </p:cNvPr>
          <p:cNvSpPr>
            <a:spLocks noGrp="1"/>
          </p:cNvSpPr>
          <p:nvPr>
            <p:ph type="title"/>
          </p:nvPr>
        </p:nvSpPr>
        <p:spPr/>
        <p:txBody>
          <a:bodyPr/>
          <a:lstStyle/>
          <a:p>
            <a:r>
              <a:t>We Have Seen This Fear Before</a:t>
            </a:r>
          </a:p>
        </p:txBody>
      </p:sp>
      <p:sp>
        <p:nvSpPr>
          <p:cNvPr id="6" name="Slide Number Placeholder 5">
            <a:extLst>
              <a:ext uri="{FF2B5EF4-FFF2-40B4-BE49-F238E27FC236}">
                <a16:creationId xmlns:a16="http://schemas.microsoft.com/office/drawing/2014/main" id="{11E4677A-4F02-4478-B9B8-685D0B6264D3}"/>
              </a:ext>
            </a:extLst>
          </p:cNvPr>
          <p:cNvSpPr>
            <a:spLocks noGrp="1"/>
          </p:cNvSpPr>
          <p:nvPr>
            <p:ph type="sldNum" sz="quarter" idx="12"/>
          </p:nvPr>
        </p:nvSpPr>
        <p:spPr/>
        <p:txBody>
          <a:bodyPr/>
          <a:lstStyle/>
          <a:p>
            <a:fld id="{9EA0BE3B-158A-4EDF-80DC-E394A0D1600F}" type="slidenum">
              <a:rPr lang="en-US" smtClean="0"/>
              <a:pPr/>
              <a:t>6</a:t>
            </a:fld>
            <a:endParaRPr lang="en-US"/>
          </a:p>
        </p:txBody>
      </p:sp>
      <p:sp>
        <p:nvSpPr>
          <p:cNvPr id="7" name="Rounded Rectangle 6"/>
          <p:cNvSpPr/>
          <p:nvPr/>
        </p:nvSpPr>
        <p:spPr>
          <a:xfrm>
            <a:off x="548640" y="1097280"/>
            <a:ext cx="2430018" cy="2514600"/>
          </a:xfrm>
          <a:prstGeom prst="roundRect">
            <a:avLst>
              <a:gd name="adj" fmla="val 6000"/>
            </a:avLst>
          </a:prstGeom>
          <a:solidFill>
            <a:srgbClr val="E6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261872"/>
            <a:ext cx="2027682" cy="502920"/>
          </a:xfrm>
          <a:prstGeom prst="rect">
            <a:avLst/>
          </a:prstGeom>
          <a:noFill/>
        </p:spPr>
        <p:txBody>
          <a:bodyPr wrap="square" anchor="t" lIns="0" rIns="0" tIns="27432" bIns="27432">
            <a:spAutoFit/>
          </a:bodyPr>
          <a:lstStyle/>
          <a:p>
            <a:pPr algn="l"/>
            <a:r>
              <a:rPr sz="2600" b="1">
                <a:solidFill>
                  <a:srgbClr val="00376F"/>
                </a:solidFill>
                <a:latin typeface="Lato"/>
              </a:rPr>
              <a:t>1970s</a:t>
            </a:r>
          </a:p>
        </p:txBody>
      </p:sp>
      <p:sp>
        <p:nvSpPr>
          <p:cNvPr id="9" name="TextBox 8"/>
          <p:cNvSpPr txBox="1"/>
          <p:nvPr/>
        </p:nvSpPr>
        <p:spPr>
          <a:xfrm>
            <a:off x="749808" y="1810512"/>
            <a:ext cx="2027682" cy="731520"/>
          </a:xfrm>
          <a:prstGeom prst="rect">
            <a:avLst/>
          </a:prstGeom>
          <a:noFill/>
        </p:spPr>
        <p:txBody>
          <a:bodyPr wrap="square" anchor="t" lIns="0" rIns="0" tIns="27432" bIns="27432">
            <a:spAutoFit/>
          </a:bodyPr>
          <a:lstStyle/>
          <a:p>
            <a:pPr algn="l"/>
            <a:r>
              <a:rPr sz="1800" b="1">
                <a:solidFill>
                  <a:srgbClr val="262626"/>
                </a:solidFill>
                <a:latin typeface="Lato"/>
              </a:rPr>
              <a:t>Pocket calculators</a:t>
            </a:r>
          </a:p>
        </p:txBody>
      </p:sp>
      <p:sp>
        <p:nvSpPr>
          <p:cNvPr id="10" name="TextBox 9"/>
          <p:cNvSpPr txBox="1"/>
          <p:nvPr/>
        </p:nvSpPr>
        <p:spPr>
          <a:xfrm>
            <a:off x="749808" y="2587752"/>
            <a:ext cx="2027682" cy="914400"/>
          </a:xfrm>
          <a:prstGeom prst="rect">
            <a:avLst/>
          </a:prstGeom>
          <a:noFill/>
        </p:spPr>
        <p:txBody>
          <a:bodyPr wrap="square" anchor="t" lIns="0" rIns="0" tIns="27432" bIns="27432">
            <a:spAutoFit/>
          </a:bodyPr>
          <a:lstStyle/>
          <a:p>
            <a:pPr algn="l"/>
            <a:r>
              <a:rPr sz="1600" b="0">
                <a:solidFill>
                  <a:srgbClr val="595959"/>
                </a:solidFill>
                <a:latin typeface="Lato"/>
              </a:rPr>
              <a:t>Fear: it ruins students’ math skills</a:t>
            </a:r>
          </a:p>
        </p:txBody>
      </p:sp>
      <p:sp>
        <p:nvSpPr>
          <p:cNvPr id="11" name="Right Arrow 10"/>
          <p:cNvSpPr/>
          <p:nvPr/>
        </p:nvSpPr>
        <p:spPr>
          <a:xfrm>
            <a:off x="3070098" y="2185416"/>
            <a:ext cx="274320" cy="338328"/>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35858" y="1097280"/>
            <a:ext cx="2430018" cy="2514600"/>
          </a:xfrm>
          <a:prstGeom prst="roundRect">
            <a:avLst>
              <a:gd name="adj" fmla="val 6000"/>
            </a:avLst>
          </a:prstGeom>
          <a:solidFill>
            <a:srgbClr val="E6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7026" y="1261872"/>
            <a:ext cx="2027682" cy="502920"/>
          </a:xfrm>
          <a:prstGeom prst="rect">
            <a:avLst/>
          </a:prstGeom>
          <a:noFill/>
        </p:spPr>
        <p:txBody>
          <a:bodyPr wrap="square" anchor="t" lIns="0" rIns="0" tIns="27432" bIns="27432">
            <a:spAutoFit/>
          </a:bodyPr>
          <a:lstStyle/>
          <a:p>
            <a:pPr algn="l"/>
            <a:r>
              <a:rPr sz="2600" b="1">
                <a:solidFill>
                  <a:srgbClr val="00376F"/>
                </a:solidFill>
                <a:latin typeface="Lato"/>
              </a:rPr>
              <a:t>1970s</a:t>
            </a:r>
          </a:p>
        </p:txBody>
      </p:sp>
      <p:sp>
        <p:nvSpPr>
          <p:cNvPr id="14" name="TextBox 13"/>
          <p:cNvSpPr txBox="1"/>
          <p:nvPr/>
        </p:nvSpPr>
        <p:spPr>
          <a:xfrm>
            <a:off x="3637026" y="1810512"/>
            <a:ext cx="2027682" cy="731520"/>
          </a:xfrm>
          <a:prstGeom prst="rect">
            <a:avLst/>
          </a:prstGeom>
          <a:noFill/>
        </p:spPr>
        <p:txBody>
          <a:bodyPr wrap="square" anchor="t" lIns="0" rIns="0" tIns="27432" bIns="27432">
            <a:spAutoFit/>
          </a:bodyPr>
          <a:lstStyle/>
          <a:p>
            <a:pPr algn="l"/>
            <a:r>
              <a:rPr sz="1800" b="1">
                <a:solidFill>
                  <a:srgbClr val="262626"/>
                </a:solidFill>
                <a:latin typeface="Lato"/>
              </a:rPr>
              <a:t>Programming languages</a:t>
            </a:r>
          </a:p>
        </p:txBody>
      </p:sp>
      <p:sp>
        <p:nvSpPr>
          <p:cNvPr id="15" name="TextBox 14"/>
          <p:cNvSpPr txBox="1"/>
          <p:nvPr/>
        </p:nvSpPr>
        <p:spPr>
          <a:xfrm>
            <a:off x="3637026" y="2587752"/>
            <a:ext cx="2027682" cy="914400"/>
          </a:xfrm>
          <a:prstGeom prst="rect">
            <a:avLst/>
          </a:prstGeom>
          <a:noFill/>
        </p:spPr>
        <p:txBody>
          <a:bodyPr wrap="square" anchor="t" lIns="0" rIns="0" tIns="27432" bIns="27432">
            <a:spAutoFit/>
          </a:bodyPr>
          <a:lstStyle/>
          <a:p>
            <a:pPr algn="l"/>
            <a:r>
              <a:rPr sz="1600" b="0">
                <a:solidFill>
                  <a:srgbClr val="595959"/>
                </a:solidFill>
                <a:latin typeface="Lato"/>
              </a:rPr>
              <a:t>Fear: losing punch-card skills</a:t>
            </a:r>
          </a:p>
        </p:txBody>
      </p:sp>
      <p:sp>
        <p:nvSpPr>
          <p:cNvPr id="16" name="Right Arrow 15"/>
          <p:cNvSpPr/>
          <p:nvPr/>
        </p:nvSpPr>
        <p:spPr>
          <a:xfrm>
            <a:off x="5957316" y="2185416"/>
            <a:ext cx="274320" cy="338328"/>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23076" y="1097280"/>
            <a:ext cx="2430018" cy="2514600"/>
          </a:xfrm>
          <a:prstGeom prst="roundRect">
            <a:avLst>
              <a:gd name="adj" fmla="val 6000"/>
            </a:avLst>
          </a:prstGeom>
          <a:solidFill>
            <a:srgbClr val="E6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24244" y="1261872"/>
            <a:ext cx="2027682" cy="502920"/>
          </a:xfrm>
          <a:prstGeom prst="rect">
            <a:avLst/>
          </a:prstGeom>
          <a:noFill/>
        </p:spPr>
        <p:txBody>
          <a:bodyPr wrap="square" anchor="t" lIns="0" rIns="0" tIns="27432" bIns="27432">
            <a:spAutoFit/>
          </a:bodyPr>
          <a:lstStyle/>
          <a:p>
            <a:pPr algn="l"/>
            <a:r>
              <a:rPr sz="2600" b="1">
                <a:solidFill>
                  <a:srgbClr val="00376F"/>
                </a:solidFill>
                <a:latin typeface="Lato"/>
              </a:rPr>
              <a:t>2000s</a:t>
            </a:r>
          </a:p>
        </p:txBody>
      </p:sp>
      <p:sp>
        <p:nvSpPr>
          <p:cNvPr id="19" name="TextBox 18"/>
          <p:cNvSpPr txBox="1"/>
          <p:nvPr/>
        </p:nvSpPr>
        <p:spPr>
          <a:xfrm>
            <a:off x="6524244" y="1810512"/>
            <a:ext cx="2027682" cy="731520"/>
          </a:xfrm>
          <a:prstGeom prst="rect">
            <a:avLst/>
          </a:prstGeom>
          <a:noFill/>
        </p:spPr>
        <p:txBody>
          <a:bodyPr wrap="square" anchor="t" lIns="0" rIns="0" tIns="27432" bIns="27432">
            <a:spAutoFit/>
          </a:bodyPr>
          <a:lstStyle/>
          <a:p>
            <a:pPr algn="l"/>
            <a:r>
              <a:rPr sz="1800" b="1">
                <a:solidFill>
                  <a:srgbClr val="262626"/>
                </a:solidFill>
                <a:latin typeface="Lato"/>
              </a:rPr>
              <a:t>Google</a:t>
            </a:r>
          </a:p>
        </p:txBody>
      </p:sp>
      <p:sp>
        <p:nvSpPr>
          <p:cNvPr id="20" name="TextBox 19"/>
          <p:cNvSpPr txBox="1"/>
          <p:nvPr/>
        </p:nvSpPr>
        <p:spPr>
          <a:xfrm>
            <a:off x="6524244" y="2587752"/>
            <a:ext cx="2027682" cy="914400"/>
          </a:xfrm>
          <a:prstGeom prst="rect">
            <a:avLst/>
          </a:prstGeom>
          <a:noFill/>
        </p:spPr>
        <p:txBody>
          <a:bodyPr wrap="square" anchor="t" lIns="0" rIns="0" tIns="27432" bIns="27432">
            <a:spAutoFit/>
          </a:bodyPr>
          <a:lstStyle/>
          <a:p>
            <a:pPr algn="l"/>
            <a:r>
              <a:rPr sz="1600" b="0">
                <a:solidFill>
                  <a:srgbClr val="595959"/>
                </a:solidFill>
                <a:latin typeface="Lato"/>
              </a:rPr>
              <a:t>Fear: it will kill libraries</a:t>
            </a:r>
          </a:p>
        </p:txBody>
      </p:sp>
      <p:sp>
        <p:nvSpPr>
          <p:cNvPr id="21" name="Right Arrow 20"/>
          <p:cNvSpPr/>
          <p:nvPr/>
        </p:nvSpPr>
        <p:spPr>
          <a:xfrm>
            <a:off x="8844534" y="2185416"/>
            <a:ext cx="274320" cy="338328"/>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10294" y="1097280"/>
            <a:ext cx="2430018" cy="2514600"/>
          </a:xfrm>
          <a:prstGeom prst="roundRect">
            <a:avLst>
              <a:gd name="adj" fmla="val 6000"/>
            </a:avLst>
          </a:prstGeom>
          <a:solidFill>
            <a:srgbClr val="003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1462" y="1261872"/>
            <a:ext cx="2027682" cy="502920"/>
          </a:xfrm>
          <a:prstGeom prst="rect">
            <a:avLst/>
          </a:prstGeom>
          <a:noFill/>
        </p:spPr>
        <p:txBody>
          <a:bodyPr wrap="square" anchor="t" lIns="0" rIns="0" tIns="27432" bIns="27432">
            <a:spAutoFit/>
          </a:bodyPr>
          <a:lstStyle/>
          <a:p>
            <a:pPr algn="l"/>
            <a:r>
              <a:rPr sz="2600" b="1">
                <a:solidFill>
                  <a:srgbClr val="FFFFFF"/>
                </a:solidFill>
                <a:latin typeface="Lato"/>
              </a:rPr>
              <a:t>Now</a:t>
            </a:r>
          </a:p>
        </p:txBody>
      </p:sp>
      <p:sp>
        <p:nvSpPr>
          <p:cNvPr id="24" name="TextBox 23"/>
          <p:cNvSpPr txBox="1"/>
          <p:nvPr/>
        </p:nvSpPr>
        <p:spPr>
          <a:xfrm>
            <a:off x="9411462" y="1810512"/>
            <a:ext cx="2027682" cy="731520"/>
          </a:xfrm>
          <a:prstGeom prst="rect">
            <a:avLst/>
          </a:prstGeom>
          <a:noFill/>
        </p:spPr>
        <p:txBody>
          <a:bodyPr wrap="square" anchor="t" lIns="0" rIns="0" tIns="27432" bIns="27432">
            <a:spAutoFit/>
          </a:bodyPr>
          <a:lstStyle/>
          <a:p>
            <a:pPr algn="l"/>
            <a:r>
              <a:rPr sz="1800" b="1">
                <a:solidFill>
                  <a:srgbClr val="FFFFFF"/>
                </a:solidFill>
                <a:latin typeface="Lato"/>
              </a:rPr>
              <a:t>AI</a:t>
            </a:r>
          </a:p>
        </p:txBody>
      </p:sp>
      <p:sp>
        <p:nvSpPr>
          <p:cNvPr id="25" name="TextBox 24"/>
          <p:cNvSpPr txBox="1"/>
          <p:nvPr/>
        </p:nvSpPr>
        <p:spPr>
          <a:xfrm>
            <a:off x="9411462" y="2587752"/>
            <a:ext cx="2027682" cy="914400"/>
          </a:xfrm>
          <a:prstGeom prst="rect">
            <a:avLst/>
          </a:prstGeom>
          <a:noFill/>
        </p:spPr>
        <p:txBody>
          <a:bodyPr wrap="square" anchor="t" lIns="0" rIns="0" tIns="27432" bIns="27432">
            <a:spAutoFit/>
          </a:bodyPr>
          <a:lstStyle/>
          <a:p>
            <a:pPr algn="l"/>
            <a:r>
              <a:rPr sz="1600" b="0">
                <a:solidFill>
                  <a:srgbClr val="FFFFFF"/>
                </a:solidFill>
                <a:latin typeface="Lato"/>
              </a:rPr>
              <a:t>Now it is the turn of AI</a:t>
            </a:r>
          </a:p>
        </p:txBody>
      </p:sp>
      <p:sp>
        <p:nvSpPr>
          <p:cNvPr id="26" name="TextBox 25"/>
          <p:cNvSpPr txBox="1"/>
          <p:nvPr/>
        </p:nvSpPr>
        <p:spPr>
          <a:xfrm>
            <a:off x="548640" y="3794760"/>
            <a:ext cx="11091672" cy="457200"/>
          </a:xfrm>
          <a:prstGeom prst="rect">
            <a:avLst/>
          </a:prstGeom>
          <a:noFill/>
        </p:spPr>
        <p:txBody>
          <a:bodyPr wrap="square" anchor="t" lIns="0" rIns="0" tIns="27432" bIns="27432">
            <a:spAutoFit/>
          </a:bodyPr>
          <a:lstStyle/>
          <a:p>
            <a:pPr algn="l"/>
            <a:r>
              <a:rPr sz="1800" b="0">
                <a:solidFill>
                  <a:srgbClr val="262626"/>
                </a:solidFill>
                <a:latin typeface="Lato"/>
              </a:rPr>
              <a:t>Today, all of these tools are widely used, and nobody complains about them.</a:t>
            </a:r>
          </a:p>
        </p:txBody>
      </p:sp>
      <p:sp>
        <p:nvSpPr>
          <p:cNvPr id="27" name="Rounded Rectangle 26"/>
          <p:cNvSpPr/>
          <p:nvPr/>
        </p:nvSpPr>
        <p:spPr>
          <a:xfrm>
            <a:off x="548640" y="4389120"/>
            <a:ext cx="11091672" cy="105156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0" rIns="365760" tIns="27432" bIns="27432"/>
          <a:lstStyle/>
          <a:p>
            <a:pPr algn="l">
              <a:spcAft>
                <a:spcPts val="400"/>
              </a:spcAft>
            </a:pPr>
            <a:r>
              <a:rPr sz="1600" b="0">
                <a:solidFill>
                  <a:srgbClr val="262626"/>
                </a:solidFill>
                <a:latin typeface="Lato"/>
              </a:rPr>
              <a:t>2023–2024: papers were retracted for a leftover “As an AI language model…”</a:t>
            </a:r>
          </a:p>
          <a:p>
            <a:pPr algn="l"/>
            <a:r>
              <a:rPr sz="2200" b="1">
                <a:solidFill>
                  <a:srgbClr val="C00000"/>
                </a:solidFill>
                <a:latin typeface="Lato"/>
              </a:rPr>
              <a:t>The problem is not the tool itself, but how people use it.</a:t>
            </a:r>
          </a:p>
        </p:txBody>
      </p:sp>
    </p:spTree>
    <p:extLst>
      <p:ext uri="{BB962C8B-B14F-4D97-AF65-F5344CB8AC3E}">
        <p14:creationId xmlns:p14="http://schemas.microsoft.com/office/powerpoint/2010/main" val="3505952789"/>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Total Ban Could Leave Us Behind</a:t>
            </a:r>
          </a:p>
        </p:txBody>
      </p:sp>
      <p:sp>
        <p:nvSpPr>
          <p:cNvPr id="4" name="Slide Number Placeholder 3">
            <a:extLst>
              <a:ext uri="{FF2B5EF4-FFF2-40B4-BE49-F238E27FC236}">
                <a16:creationId xmlns:a16="http://schemas.microsoft.com/office/drawing/2014/main" id="{6CAB879D-D188-4DA3-8675-F8BCF379A12E}"/>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
        <p:nvSpPr>
          <p:cNvPr id="5" name="Rounded Rectangle 4"/>
          <p:cNvSpPr/>
          <p:nvPr/>
        </p:nvSpPr>
        <p:spPr>
          <a:xfrm>
            <a:off x="548640" y="1325880"/>
            <a:ext cx="3361944" cy="3566160"/>
          </a:xfrm>
          <a:prstGeom prst="roundRect">
            <a:avLst>
              <a:gd name="adj" fmla="val 6000"/>
            </a:avLst>
          </a:prstGeom>
          <a:solidFill>
            <a:srgbClr val="E6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600200"/>
            <a:ext cx="2813304" cy="320040"/>
          </a:xfrm>
          <a:prstGeom prst="rect">
            <a:avLst/>
          </a:prstGeom>
          <a:noFill/>
        </p:spPr>
        <p:txBody>
          <a:bodyPr wrap="square" anchor="t" lIns="0" rIns="0" tIns="27432" bIns="27432">
            <a:spAutoFit/>
          </a:bodyPr>
          <a:lstStyle/>
          <a:p>
            <a:pPr algn="l"/>
            <a:r>
              <a:rPr sz="1400" b="1">
                <a:solidFill>
                  <a:srgbClr val="C00000"/>
                </a:solidFill>
                <a:latin typeface="Lato"/>
              </a:rPr>
              <a:t>AI TODAY</a:t>
            </a:r>
          </a:p>
        </p:txBody>
      </p:sp>
      <p:sp>
        <p:nvSpPr>
          <p:cNvPr id="7" name="TextBox 6"/>
          <p:cNvSpPr txBox="1"/>
          <p:nvPr/>
        </p:nvSpPr>
        <p:spPr>
          <a:xfrm>
            <a:off x="822959" y="2011680"/>
            <a:ext cx="2813304" cy="914400"/>
          </a:xfrm>
          <a:prstGeom prst="rect">
            <a:avLst/>
          </a:prstGeom>
          <a:noFill/>
        </p:spPr>
        <p:txBody>
          <a:bodyPr wrap="square" anchor="t" lIns="0" rIns="0" tIns="27432" bIns="27432">
            <a:spAutoFit/>
          </a:bodyPr>
          <a:lstStyle/>
          <a:p>
            <a:pPr algn="l"/>
            <a:r>
              <a:rPr sz="2400" b="1">
                <a:solidFill>
                  <a:srgbClr val="00376F"/>
                </a:solidFill>
                <a:latin typeface="Lato"/>
              </a:rPr>
              <a:t>A great tool, but very new</a:t>
            </a:r>
          </a:p>
        </p:txBody>
      </p:sp>
      <p:sp>
        <p:nvSpPr>
          <p:cNvPr id="8" name="TextBox 7"/>
          <p:cNvSpPr txBox="1"/>
          <p:nvPr/>
        </p:nvSpPr>
        <p:spPr>
          <a:xfrm>
            <a:off x="822959" y="3017520"/>
            <a:ext cx="2813304" cy="1737360"/>
          </a:xfrm>
          <a:prstGeom prst="rect">
            <a:avLst/>
          </a:prstGeom>
          <a:noFill/>
        </p:spPr>
        <p:txBody>
          <a:bodyPr wrap="square" anchor="t" lIns="0" rIns="0" tIns="27432" bIns="27432">
            <a:spAutoFit/>
          </a:bodyPr>
          <a:lstStyle/>
          <a:p>
            <a:pPr algn="l"/>
            <a:r>
              <a:rPr sz="1800" b="0">
                <a:solidFill>
                  <a:srgbClr val="262626"/>
                </a:solidFill>
                <a:latin typeface="Lato"/>
              </a:rPr>
              <a:t>People feel overwhelmed and don’t yet know how to control it or use its full potential</a:t>
            </a:r>
          </a:p>
        </p:txBody>
      </p:sp>
      <p:sp>
        <p:nvSpPr>
          <p:cNvPr id="9" name="Right Arrow 8"/>
          <p:cNvSpPr/>
          <p:nvPr/>
        </p:nvSpPr>
        <p:spPr>
          <a:xfrm>
            <a:off x="4011168" y="2926080"/>
            <a:ext cx="301752" cy="365760"/>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13504" y="1325880"/>
            <a:ext cx="3361944" cy="3566160"/>
          </a:xfrm>
          <a:prstGeom prst="roundRect">
            <a:avLst>
              <a:gd name="adj" fmla="val 6000"/>
            </a:avLst>
          </a:prstGeom>
          <a:solidFill>
            <a:srgbClr val="E6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87824" y="1600200"/>
            <a:ext cx="2813304" cy="320040"/>
          </a:xfrm>
          <a:prstGeom prst="rect">
            <a:avLst/>
          </a:prstGeom>
          <a:noFill/>
        </p:spPr>
        <p:txBody>
          <a:bodyPr wrap="square" anchor="t" lIns="0" rIns="0" tIns="27432" bIns="27432">
            <a:spAutoFit/>
          </a:bodyPr>
          <a:lstStyle/>
          <a:p>
            <a:pPr algn="l"/>
            <a:r>
              <a:rPr sz="1400" b="1">
                <a:solidFill>
                  <a:srgbClr val="C00000"/>
                </a:solidFill>
                <a:latin typeface="Lato"/>
              </a:rPr>
              <a:t>AI TOMORROW</a:t>
            </a:r>
          </a:p>
        </p:txBody>
      </p:sp>
      <p:sp>
        <p:nvSpPr>
          <p:cNvPr id="12" name="TextBox 11"/>
          <p:cNvSpPr txBox="1"/>
          <p:nvPr/>
        </p:nvSpPr>
        <p:spPr>
          <a:xfrm>
            <a:off x="4687824" y="2011680"/>
            <a:ext cx="2813304" cy="914400"/>
          </a:xfrm>
          <a:prstGeom prst="rect">
            <a:avLst/>
          </a:prstGeom>
          <a:noFill/>
        </p:spPr>
        <p:txBody>
          <a:bodyPr wrap="square" anchor="t" lIns="0" rIns="0" tIns="27432" bIns="27432">
            <a:spAutoFit/>
          </a:bodyPr>
          <a:lstStyle/>
          <a:p>
            <a:pPr algn="l"/>
            <a:r>
              <a:rPr sz="2400" b="1">
                <a:solidFill>
                  <a:srgbClr val="00376F"/>
                </a:solidFill>
                <a:latin typeface="Lato"/>
              </a:rPr>
              <a:t>A huge trend</a:t>
            </a:r>
          </a:p>
        </p:txBody>
      </p:sp>
      <p:sp>
        <p:nvSpPr>
          <p:cNvPr id="13" name="TextBox 12"/>
          <p:cNvSpPr txBox="1"/>
          <p:nvPr/>
        </p:nvSpPr>
        <p:spPr>
          <a:xfrm>
            <a:off x="4687824" y="3017520"/>
            <a:ext cx="2813304" cy="1737360"/>
          </a:xfrm>
          <a:prstGeom prst="rect">
            <a:avLst/>
          </a:prstGeom>
          <a:noFill/>
        </p:spPr>
        <p:txBody>
          <a:bodyPr wrap="square" anchor="t" lIns="0" rIns="0" tIns="27432" bIns="27432">
            <a:spAutoFit/>
          </a:bodyPr>
          <a:lstStyle/>
          <a:p>
            <a:pPr algn="l"/>
            <a:r>
              <a:rPr sz="1800" b="0">
                <a:solidFill>
                  <a:srgbClr val="262626"/>
                </a:solidFill>
                <a:latin typeface="Lato"/>
              </a:rPr>
              <a:t>AI is clearly going to be huge in the near future</a:t>
            </a:r>
          </a:p>
        </p:txBody>
      </p:sp>
      <p:sp>
        <p:nvSpPr>
          <p:cNvPr id="14" name="Right Arrow 13"/>
          <p:cNvSpPr/>
          <p:nvPr/>
        </p:nvSpPr>
        <p:spPr>
          <a:xfrm>
            <a:off x="7876032" y="2926080"/>
            <a:ext cx="301752" cy="365760"/>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78368" y="1325880"/>
            <a:ext cx="3361944" cy="356616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52688" y="1600200"/>
            <a:ext cx="2813304" cy="320040"/>
          </a:xfrm>
          <a:prstGeom prst="rect">
            <a:avLst/>
          </a:prstGeom>
          <a:noFill/>
        </p:spPr>
        <p:txBody>
          <a:bodyPr wrap="square" anchor="t" lIns="0" rIns="0" tIns="27432" bIns="27432">
            <a:spAutoFit/>
          </a:bodyPr>
          <a:lstStyle/>
          <a:p>
            <a:pPr algn="l"/>
            <a:r>
              <a:rPr sz="1400" b="1">
                <a:solidFill>
                  <a:srgbClr val="FFFFFF"/>
                </a:solidFill>
                <a:latin typeface="Lato"/>
              </a:rPr>
              <a:t>IF WE BAN IT</a:t>
            </a:r>
          </a:p>
        </p:txBody>
      </p:sp>
      <p:sp>
        <p:nvSpPr>
          <p:cNvPr id="17" name="TextBox 16"/>
          <p:cNvSpPr txBox="1"/>
          <p:nvPr/>
        </p:nvSpPr>
        <p:spPr>
          <a:xfrm>
            <a:off x="8552688" y="2011680"/>
            <a:ext cx="2813304" cy="914400"/>
          </a:xfrm>
          <a:prstGeom prst="rect">
            <a:avLst/>
          </a:prstGeom>
          <a:noFill/>
        </p:spPr>
        <p:txBody>
          <a:bodyPr wrap="square" anchor="t" lIns="0" rIns="0" tIns="27432" bIns="27432">
            <a:spAutoFit/>
          </a:bodyPr>
          <a:lstStyle/>
          <a:p>
            <a:pPr algn="l"/>
            <a:r>
              <a:rPr sz="2400" b="1">
                <a:solidFill>
                  <a:srgbClr val="FFFFFF"/>
                </a:solidFill>
                <a:latin typeface="Lato"/>
              </a:rPr>
              <a:t>We might fall behind</a:t>
            </a:r>
          </a:p>
        </p:txBody>
      </p:sp>
      <p:sp>
        <p:nvSpPr>
          <p:cNvPr id="18" name="TextBox 17"/>
          <p:cNvSpPr txBox="1"/>
          <p:nvPr/>
        </p:nvSpPr>
        <p:spPr>
          <a:xfrm>
            <a:off x="8552688" y="3017520"/>
            <a:ext cx="2813304" cy="1737360"/>
          </a:xfrm>
          <a:prstGeom prst="rect">
            <a:avLst/>
          </a:prstGeom>
          <a:noFill/>
        </p:spPr>
        <p:txBody>
          <a:bodyPr wrap="square" anchor="t" lIns="0" rIns="0" tIns="27432" bIns="27432">
            <a:spAutoFit/>
          </a:bodyPr>
          <a:lstStyle/>
          <a:p>
            <a:pPr algn="l"/>
            <a:r>
              <a:rPr sz="1800" b="0">
                <a:solidFill>
                  <a:srgbClr val="FFFFFF"/>
                </a:solidFill>
                <a:latin typeface="Lato"/>
              </a:rPr>
              <a:t>Students and teachers get fewer opportunities to use and study AI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5AD8A-1EA9-C7CE-D797-0A3D974FB867}"/>
              </a:ext>
            </a:extLst>
          </p:cNvPr>
          <p:cNvSpPr>
            <a:spLocks noGrp="1"/>
          </p:cNvSpPr>
          <p:nvPr>
            <p:ph type="title"/>
          </p:nvPr>
        </p:nvSpPr>
        <p:spPr/>
        <p:txBody>
          <a:bodyPr/>
          <a:lstStyle/>
          <a:p>
            <a:r>
              <a:t>The Line: AI as an Assistant, Never as the Author</a:t>
            </a:r>
          </a:p>
        </p:txBody>
      </p:sp>
      <p:sp>
        <p:nvSpPr>
          <p:cNvPr id="4" name="Slide Number Placeholder 3">
            <a:extLst>
              <a:ext uri="{FF2B5EF4-FFF2-40B4-BE49-F238E27FC236}">
                <a16:creationId xmlns:a16="http://schemas.microsoft.com/office/drawing/2014/main" id="{F8DD1CE8-660D-F65D-7BA2-062181F1E9B0}"/>
              </a:ext>
            </a:extLst>
          </p:cNvPr>
          <p:cNvSpPr>
            <a:spLocks noGrp="1"/>
          </p:cNvSpPr>
          <p:nvPr>
            <p:ph type="sldNum" sz="quarter" idx="12"/>
          </p:nvPr>
        </p:nvSpPr>
        <p:spPr/>
        <p:txBody>
          <a:bodyPr/>
          <a:lstStyle/>
          <a:p>
            <a:fld id="{9EA0BE3B-158A-4EDF-80DC-E394A0D1600F}" type="slidenum">
              <a:rPr lang="en-US" smtClean="0"/>
              <a:pPr/>
              <a:t>9</a:t>
            </a:fld>
            <a:endParaRPr lang="en-US"/>
          </a:p>
        </p:txBody>
      </p:sp>
      <p:sp>
        <p:nvSpPr>
          <p:cNvPr id="5" name="Rounded Rectangle 4"/>
          <p:cNvSpPr/>
          <p:nvPr/>
        </p:nvSpPr>
        <p:spPr>
          <a:xfrm>
            <a:off x="548640" y="1097280"/>
            <a:ext cx="11091672" cy="73152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 bIns="27432"/>
          <a:lstStyle/>
          <a:p>
            <a:pPr algn="ctr"/>
            <a:r>
              <a:rPr sz="2000" b="1">
                <a:solidFill>
                  <a:srgbClr val="00376F"/>
                </a:solidFill>
                <a:latin typeface="Lato"/>
              </a:rPr>
              <a:t>Nature, Science and IEEE do not ban AI. They ask authors to be fully transparent.</a:t>
            </a:r>
          </a:p>
        </p:txBody>
      </p:sp>
      <p:sp>
        <p:nvSpPr>
          <p:cNvPr id="6" name="Rounded Rectangle 5"/>
          <p:cNvSpPr/>
          <p:nvPr/>
        </p:nvSpPr>
        <p:spPr>
          <a:xfrm>
            <a:off x="548640" y="2103120"/>
            <a:ext cx="5362956" cy="3291840"/>
          </a:xfrm>
          <a:prstGeom prst="roundRect">
            <a:avLst>
              <a:gd name="adj" fmla="val 6000"/>
            </a:avLst>
          </a:prstGeom>
          <a:solidFill>
            <a:srgbClr val="E6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2103120"/>
            <a:ext cx="5362956" cy="822960"/>
          </a:xfrm>
          <a:prstGeom prst="roundRect">
            <a:avLst>
              <a:gd name="adj" fmla="val 6000"/>
            </a:avLst>
          </a:prstGeom>
          <a:solidFill>
            <a:srgbClr val="0037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27432" bIns="27432"/>
          <a:lstStyle/>
          <a:p>
            <a:pPr algn="l"/>
            <a:r>
              <a:rPr sz="2200" b="1">
                <a:solidFill>
                  <a:srgbClr val="FFFFFF"/>
                </a:solidFill>
                <a:latin typeface="Lato"/>
              </a:rPr>
              <a:t>ALLOWED   </a:t>
            </a:r>
            <a:r>
              <a:rPr sz="1800" b="0">
                <a:solidFill>
                  <a:srgbClr val="FFFFFF"/>
                </a:solidFill>
                <a:latin typeface="Lato"/>
              </a:rPr>
              <a:t>AI as an assistant</a:t>
            </a:r>
          </a:p>
        </p:txBody>
      </p:sp>
      <p:sp>
        <p:nvSpPr>
          <p:cNvPr id="8" name="Oval 7"/>
          <p:cNvSpPr/>
          <p:nvPr/>
        </p:nvSpPr>
        <p:spPr>
          <a:xfrm>
            <a:off x="896112" y="3355848"/>
            <a:ext cx="146304" cy="146304"/>
          </a:xfrm>
          <a:prstGeom prst="ellipse">
            <a:avLst/>
          </a:prstGeom>
          <a:solidFill>
            <a:srgbClr val="003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40" y="3200400"/>
            <a:ext cx="4357116" cy="457200"/>
          </a:xfrm>
          <a:prstGeom prst="rect">
            <a:avLst/>
          </a:prstGeom>
          <a:noFill/>
        </p:spPr>
        <p:txBody>
          <a:bodyPr wrap="square" anchor="ctr" lIns="0" rIns="0" tIns="27432" bIns="27432">
            <a:spAutoFit/>
          </a:bodyPr>
          <a:lstStyle/>
          <a:p>
            <a:pPr algn="l"/>
            <a:r>
              <a:rPr sz="2000" b="0">
                <a:solidFill>
                  <a:srgbClr val="262626"/>
                </a:solidFill>
                <a:latin typeface="Lato"/>
              </a:rPr>
              <a:t>Finding materials</a:t>
            </a:r>
          </a:p>
        </p:txBody>
      </p:sp>
      <p:sp>
        <p:nvSpPr>
          <p:cNvPr id="10" name="Oval 9"/>
          <p:cNvSpPr/>
          <p:nvPr/>
        </p:nvSpPr>
        <p:spPr>
          <a:xfrm>
            <a:off x="896112" y="4032504"/>
            <a:ext cx="146304" cy="146304"/>
          </a:xfrm>
          <a:prstGeom prst="ellipse">
            <a:avLst/>
          </a:prstGeom>
          <a:solidFill>
            <a:srgbClr val="003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3877056"/>
            <a:ext cx="4357116" cy="457200"/>
          </a:xfrm>
          <a:prstGeom prst="rect">
            <a:avLst/>
          </a:prstGeom>
          <a:noFill/>
        </p:spPr>
        <p:txBody>
          <a:bodyPr wrap="square" anchor="ctr" lIns="0" rIns="0" tIns="27432" bIns="27432">
            <a:spAutoFit/>
          </a:bodyPr>
          <a:lstStyle/>
          <a:p>
            <a:pPr algn="l"/>
            <a:r>
              <a:rPr sz="2000" b="0">
                <a:solidFill>
                  <a:srgbClr val="262626"/>
                </a:solidFill>
                <a:latin typeface="Lato"/>
              </a:rPr>
              <a:t>Suggesting code for data processing</a:t>
            </a:r>
          </a:p>
        </p:txBody>
      </p:sp>
      <p:sp>
        <p:nvSpPr>
          <p:cNvPr id="12" name="Oval 11"/>
          <p:cNvSpPr/>
          <p:nvPr/>
        </p:nvSpPr>
        <p:spPr>
          <a:xfrm>
            <a:off x="896112" y="4709160"/>
            <a:ext cx="146304" cy="146304"/>
          </a:xfrm>
          <a:prstGeom prst="ellipse">
            <a:avLst/>
          </a:prstGeom>
          <a:solidFill>
            <a:srgbClr val="0037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34440" y="4553712"/>
            <a:ext cx="4357116" cy="457200"/>
          </a:xfrm>
          <a:prstGeom prst="rect">
            <a:avLst/>
          </a:prstGeom>
          <a:noFill/>
        </p:spPr>
        <p:txBody>
          <a:bodyPr wrap="square" anchor="ctr" lIns="0" rIns="0" tIns="27432" bIns="27432">
            <a:spAutoFit/>
          </a:bodyPr>
          <a:lstStyle/>
          <a:p>
            <a:pPr algn="l"/>
            <a:r>
              <a:rPr sz="2000" b="0">
                <a:solidFill>
                  <a:srgbClr val="262626"/>
                </a:solidFill>
                <a:latin typeface="Lato"/>
              </a:rPr>
              <a:t>Checking grammar</a:t>
            </a:r>
          </a:p>
        </p:txBody>
      </p:sp>
      <p:sp>
        <p:nvSpPr>
          <p:cNvPr id="14" name="Rounded Rectangle 13"/>
          <p:cNvSpPr/>
          <p:nvPr/>
        </p:nvSpPr>
        <p:spPr>
          <a:xfrm>
            <a:off x="6277356" y="2103120"/>
            <a:ext cx="5362956" cy="3291840"/>
          </a:xfrm>
          <a:prstGeom prst="roundRect">
            <a:avLst>
              <a:gd name="adj" fmla="val 6000"/>
            </a:avLst>
          </a:prstGeom>
          <a:solidFill>
            <a:srgbClr val="FB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77356" y="2103120"/>
            <a:ext cx="5362956" cy="822960"/>
          </a:xfrm>
          <a:prstGeom prst="roundRect">
            <a:avLst>
              <a:gd name="adj" fmla="val 6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320040" tIns="27432" bIns="27432"/>
          <a:lstStyle/>
          <a:p>
            <a:pPr algn="l"/>
            <a:r>
              <a:rPr sz="2200" b="1">
                <a:solidFill>
                  <a:srgbClr val="FFFFFF"/>
                </a:solidFill>
                <a:latin typeface="Lato"/>
              </a:rPr>
              <a:t>NOT ALLOWED   </a:t>
            </a:r>
            <a:r>
              <a:rPr sz="1800" b="0">
                <a:solidFill>
                  <a:srgbClr val="FFFFFF"/>
                </a:solidFill>
                <a:latin typeface="Lato"/>
              </a:rPr>
              <a:t>AI as the author</a:t>
            </a:r>
          </a:p>
        </p:txBody>
      </p:sp>
      <p:sp>
        <p:nvSpPr>
          <p:cNvPr id="16" name="Oval 15"/>
          <p:cNvSpPr/>
          <p:nvPr/>
        </p:nvSpPr>
        <p:spPr>
          <a:xfrm>
            <a:off x="6624828" y="3355848"/>
            <a:ext cx="146304" cy="14630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63156" y="3200400"/>
            <a:ext cx="4357116" cy="457200"/>
          </a:xfrm>
          <a:prstGeom prst="rect">
            <a:avLst/>
          </a:prstGeom>
          <a:noFill/>
        </p:spPr>
        <p:txBody>
          <a:bodyPr wrap="square" anchor="ctr" lIns="0" rIns="0" tIns="27432" bIns="27432">
            <a:spAutoFit/>
          </a:bodyPr>
          <a:lstStyle/>
          <a:p>
            <a:pPr algn="l"/>
            <a:r>
              <a:rPr sz="2000" b="0">
                <a:solidFill>
                  <a:srgbClr val="262626"/>
                </a:solidFill>
                <a:latin typeface="Lato"/>
              </a:rPr>
              <a:t>Making up data</a:t>
            </a:r>
          </a:p>
        </p:txBody>
      </p:sp>
      <p:sp>
        <p:nvSpPr>
          <p:cNvPr id="18" name="Oval 17"/>
          <p:cNvSpPr/>
          <p:nvPr/>
        </p:nvSpPr>
        <p:spPr>
          <a:xfrm>
            <a:off x="6624828" y="4032504"/>
            <a:ext cx="146304" cy="14630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63156" y="3877056"/>
            <a:ext cx="4357116" cy="457200"/>
          </a:xfrm>
          <a:prstGeom prst="rect">
            <a:avLst/>
          </a:prstGeom>
          <a:noFill/>
        </p:spPr>
        <p:txBody>
          <a:bodyPr wrap="square" anchor="ctr" lIns="0" rIns="0" tIns="27432" bIns="27432">
            <a:spAutoFit/>
          </a:bodyPr>
          <a:lstStyle/>
          <a:p>
            <a:pPr algn="l"/>
            <a:r>
              <a:rPr sz="2000" b="0">
                <a:solidFill>
                  <a:srgbClr val="262626"/>
                </a:solidFill>
                <a:latin typeface="Lato"/>
              </a:rPr>
              <a:t>Fake references</a:t>
            </a:r>
          </a:p>
        </p:txBody>
      </p:sp>
      <p:sp>
        <p:nvSpPr>
          <p:cNvPr id="20" name="Oval 19"/>
          <p:cNvSpPr/>
          <p:nvPr/>
        </p:nvSpPr>
        <p:spPr>
          <a:xfrm>
            <a:off x="6624828" y="4709160"/>
            <a:ext cx="146304" cy="146304"/>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63156" y="4553712"/>
            <a:ext cx="4357116" cy="457200"/>
          </a:xfrm>
          <a:prstGeom prst="rect">
            <a:avLst/>
          </a:prstGeom>
          <a:noFill/>
        </p:spPr>
        <p:txBody>
          <a:bodyPr wrap="square" anchor="ctr" lIns="0" rIns="0" tIns="27432" bIns="27432">
            <a:spAutoFit/>
          </a:bodyPr>
          <a:lstStyle/>
          <a:p>
            <a:pPr algn="l"/>
            <a:r>
              <a:rPr sz="2000" b="0">
                <a:solidFill>
                  <a:srgbClr val="262626"/>
                </a:solidFill>
                <a:latin typeface="Lato"/>
              </a:rPr>
              <a:t>Writing the whole paper</a:t>
            </a:r>
          </a:p>
        </p:txBody>
      </p:sp>
    </p:spTree>
    <p:extLst>
      <p:ext uri="{BB962C8B-B14F-4D97-AF65-F5344CB8AC3E}">
        <p14:creationId xmlns:p14="http://schemas.microsoft.com/office/powerpoint/2010/main" val="3092516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BCDCA-26D1-DE31-7955-F13FF981A1DC}"/>
              </a:ext>
            </a:extLst>
          </p:cNvPr>
          <p:cNvSpPr>
            <a:spLocks noGrp="1"/>
          </p:cNvSpPr>
          <p:nvPr>
            <p:ph type="title"/>
          </p:nvPr>
        </p:nvSpPr>
        <p:spPr/>
        <p:txBody>
          <a:bodyPr/>
          <a:lstStyle/>
          <a:p>
            <a:r>
              <a:t>3 Rules for Using AI in Research</a:t>
            </a:r>
          </a:p>
        </p:txBody>
      </p:sp>
      <p:sp>
        <p:nvSpPr>
          <p:cNvPr id="4" name="Slide Number Placeholder 3">
            <a:extLst>
              <a:ext uri="{FF2B5EF4-FFF2-40B4-BE49-F238E27FC236}">
                <a16:creationId xmlns:a16="http://schemas.microsoft.com/office/drawing/2014/main" id="{F830FB4F-C0E4-5A49-AA97-BCAA527E88FD}"/>
              </a:ext>
            </a:extLst>
          </p:cNvPr>
          <p:cNvSpPr>
            <a:spLocks noGrp="1"/>
          </p:cNvSpPr>
          <p:nvPr>
            <p:ph type="sldNum" sz="quarter" idx="12"/>
          </p:nvPr>
        </p:nvSpPr>
        <p:spPr/>
        <p:txBody>
          <a:bodyPr/>
          <a:lstStyle/>
          <a:p>
            <a:fld id="{9EA0BE3B-158A-4EDF-80DC-E394A0D1600F}" type="slidenum">
              <a:rPr lang="en-US" smtClean="0"/>
              <a:pPr/>
              <a:t>11</a:t>
            </a:fld>
            <a:endParaRPr lang="en-US"/>
          </a:p>
        </p:txBody>
      </p:sp>
      <p:sp>
        <p:nvSpPr>
          <p:cNvPr id="5" name="Rounded Rectangle 4"/>
          <p:cNvSpPr/>
          <p:nvPr/>
        </p:nvSpPr>
        <p:spPr>
          <a:xfrm>
            <a:off x="548640" y="1097280"/>
            <a:ext cx="3514344" cy="29260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1371600"/>
            <a:ext cx="731520" cy="731520"/>
          </a:xfrm>
          <a:prstGeom prst="ellipse">
            <a:avLst/>
          </a:prstGeom>
          <a:solidFill>
            <a:srgbClr val="0037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a:solidFill>
                  <a:srgbClr val="FFFFFF"/>
                </a:solidFill>
                <a:latin typeface="Lato"/>
              </a:rPr>
              <a:t>1</a:t>
            </a:r>
          </a:p>
        </p:txBody>
      </p:sp>
      <p:sp>
        <p:nvSpPr>
          <p:cNvPr id="7" name="TextBox 6"/>
          <p:cNvSpPr txBox="1"/>
          <p:nvPr/>
        </p:nvSpPr>
        <p:spPr>
          <a:xfrm>
            <a:off x="822959" y="2286000"/>
            <a:ext cx="2965704" cy="457200"/>
          </a:xfrm>
          <a:prstGeom prst="rect">
            <a:avLst/>
          </a:prstGeom>
          <a:noFill/>
        </p:spPr>
        <p:txBody>
          <a:bodyPr wrap="square" anchor="t" lIns="0" rIns="0" tIns="27432" bIns="27432">
            <a:spAutoFit/>
          </a:bodyPr>
          <a:lstStyle/>
          <a:p>
            <a:pPr algn="l"/>
            <a:r>
              <a:rPr sz="2000" b="1">
                <a:solidFill>
                  <a:srgbClr val="00376F"/>
                </a:solidFill>
                <a:latin typeface="Lato"/>
              </a:rPr>
              <a:t>Humans come first</a:t>
            </a:r>
          </a:p>
        </p:txBody>
      </p:sp>
      <p:sp>
        <p:nvSpPr>
          <p:cNvPr id="8" name="TextBox 7"/>
          <p:cNvSpPr txBox="1"/>
          <p:nvPr/>
        </p:nvSpPr>
        <p:spPr>
          <a:xfrm>
            <a:off x="822959" y="2788920"/>
            <a:ext cx="2965704" cy="1143000"/>
          </a:xfrm>
          <a:prstGeom prst="rect">
            <a:avLst/>
          </a:prstGeom>
          <a:noFill/>
        </p:spPr>
        <p:txBody>
          <a:bodyPr wrap="square" anchor="t" lIns="0" rIns="0" tIns="27432" bIns="27432">
            <a:spAutoFit/>
          </a:bodyPr>
          <a:lstStyle/>
          <a:p>
            <a:pPr algn="l"/>
            <a:r>
              <a:rPr sz="1800" b="0">
                <a:solidFill>
                  <a:srgbClr val="262626"/>
                </a:solidFill>
                <a:latin typeface="Lato"/>
              </a:rPr>
              <a:t>Authors take 100% responsibility for all data and conclusions</a:t>
            </a:r>
          </a:p>
        </p:txBody>
      </p:sp>
      <p:sp>
        <p:nvSpPr>
          <p:cNvPr id="9" name="Rounded Rectangle 8"/>
          <p:cNvSpPr/>
          <p:nvPr/>
        </p:nvSpPr>
        <p:spPr>
          <a:xfrm>
            <a:off x="4337304" y="1097280"/>
            <a:ext cx="3514344" cy="29260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1624" y="1371600"/>
            <a:ext cx="731520" cy="731520"/>
          </a:xfrm>
          <a:prstGeom prst="ellipse">
            <a:avLst/>
          </a:prstGeom>
          <a:solidFill>
            <a:srgbClr val="0037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a:solidFill>
                  <a:srgbClr val="FFFFFF"/>
                </a:solidFill>
                <a:latin typeface="Lato"/>
              </a:rPr>
              <a:t>2</a:t>
            </a:r>
          </a:p>
        </p:txBody>
      </p:sp>
      <p:sp>
        <p:nvSpPr>
          <p:cNvPr id="11" name="TextBox 10"/>
          <p:cNvSpPr txBox="1"/>
          <p:nvPr/>
        </p:nvSpPr>
        <p:spPr>
          <a:xfrm>
            <a:off x="4611624" y="2286000"/>
            <a:ext cx="2965704" cy="457200"/>
          </a:xfrm>
          <a:prstGeom prst="rect">
            <a:avLst/>
          </a:prstGeom>
          <a:noFill/>
        </p:spPr>
        <p:txBody>
          <a:bodyPr wrap="square" anchor="t" lIns="0" rIns="0" tIns="27432" bIns="27432">
            <a:spAutoFit/>
          </a:bodyPr>
          <a:lstStyle/>
          <a:p>
            <a:pPr algn="l"/>
            <a:r>
              <a:rPr sz="2000" b="1">
                <a:solidFill>
                  <a:srgbClr val="00376F"/>
                </a:solidFill>
                <a:latin typeface="Lato"/>
              </a:rPr>
              <a:t>Check the sources</a:t>
            </a:r>
          </a:p>
        </p:txBody>
      </p:sp>
      <p:sp>
        <p:nvSpPr>
          <p:cNvPr id="12" name="TextBox 11"/>
          <p:cNvSpPr txBox="1"/>
          <p:nvPr/>
        </p:nvSpPr>
        <p:spPr>
          <a:xfrm>
            <a:off x="4611624" y="2788920"/>
            <a:ext cx="2965704" cy="1143000"/>
          </a:xfrm>
          <a:prstGeom prst="rect">
            <a:avLst/>
          </a:prstGeom>
          <a:noFill/>
        </p:spPr>
        <p:txBody>
          <a:bodyPr wrap="square" anchor="t" lIns="0" rIns="0" tIns="27432" bIns="27432">
            <a:spAutoFit/>
          </a:bodyPr>
          <a:lstStyle/>
          <a:p>
            <a:pPr algn="l"/>
            <a:r>
              <a:rPr sz="1800" b="0">
                <a:solidFill>
                  <a:srgbClr val="262626"/>
                </a:solidFill>
                <a:latin typeface="Lato"/>
              </a:rPr>
              <a:t>Read and verify original sources yourself before you cite them</a:t>
            </a:r>
          </a:p>
        </p:txBody>
      </p:sp>
      <p:sp>
        <p:nvSpPr>
          <p:cNvPr id="13" name="Rounded Rectangle 12"/>
          <p:cNvSpPr/>
          <p:nvPr/>
        </p:nvSpPr>
        <p:spPr>
          <a:xfrm>
            <a:off x="8125968" y="1097280"/>
            <a:ext cx="3514344" cy="292608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00288" y="1371600"/>
            <a:ext cx="731520" cy="731520"/>
          </a:xfrm>
          <a:prstGeom prst="ellipse">
            <a:avLst/>
          </a:prstGeom>
          <a:solidFill>
            <a:srgbClr val="0037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2200" b="1">
                <a:solidFill>
                  <a:srgbClr val="FFFFFF"/>
                </a:solidFill>
                <a:latin typeface="Lato"/>
              </a:rPr>
              <a:t>3</a:t>
            </a:r>
          </a:p>
        </p:txBody>
      </p:sp>
      <p:sp>
        <p:nvSpPr>
          <p:cNvPr id="15" name="TextBox 14"/>
          <p:cNvSpPr txBox="1"/>
          <p:nvPr/>
        </p:nvSpPr>
        <p:spPr>
          <a:xfrm>
            <a:off x="8400288" y="2286000"/>
            <a:ext cx="2965704" cy="457200"/>
          </a:xfrm>
          <a:prstGeom prst="rect">
            <a:avLst/>
          </a:prstGeom>
          <a:noFill/>
        </p:spPr>
        <p:txBody>
          <a:bodyPr wrap="square" anchor="t" lIns="0" rIns="0" tIns="27432" bIns="27432">
            <a:spAutoFit/>
          </a:bodyPr>
          <a:lstStyle/>
          <a:p>
            <a:pPr algn="l"/>
            <a:r>
              <a:rPr sz="2000" b="1">
                <a:solidFill>
                  <a:srgbClr val="00376F"/>
                </a:solidFill>
                <a:latin typeface="Lato"/>
              </a:rPr>
              <a:t>Be transparent</a:t>
            </a:r>
          </a:p>
        </p:txBody>
      </p:sp>
      <p:sp>
        <p:nvSpPr>
          <p:cNvPr id="16" name="TextBox 15"/>
          <p:cNvSpPr txBox="1"/>
          <p:nvPr/>
        </p:nvSpPr>
        <p:spPr>
          <a:xfrm>
            <a:off x="8400288" y="2788920"/>
            <a:ext cx="2965704" cy="1143000"/>
          </a:xfrm>
          <a:prstGeom prst="rect">
            <a:avLst/>
          </a:prstGeom>
          <a:noFill/>
        </p:spPr>
        <p:txBody>
          <a:bodyPr wrap="square" anchor="t" lIns="0" rIns="0" tIns="27432" bIns="27432">
            <a:spAutoFit/>
          </a:bodyPr>
          <a:lstStyle/>
          <a:p>
            <a:pPr algn="l"/>
            <a:r>
              <a:rPr sz="1800" b="0">
                <a:solidFill>
                  <a:srgbClr val="262626"/>
                </a:solidFill>
                <a:latin typeface="Lato"/>
              </a:rPr>
              <a:t>State which AI tools you used and at which step</a:t>
            </a:r>
          </a:p>
        </p:txBody>
      </p:sp>
      <p:sp>
        <p:nvSpPr>
          <p:cNvPr id="17" name="TextBox 16"/>
          <p:cNvSpPr txBox="1"/>
          <p:nvPr/>
        </p:nvSpPr>
        <p:spPr>
          <a:xfrm>
            <a:off x="548640" y="4297680"/>
            <a:ext cx="11091672" cy="914400"/>
          </a:xfrm>
          <a:prstGeom prst="rect">
            <a:avLst/>
          </a:prstGeom>
          <a:noFill/>
        </p:spPr>
        <p:txBody>
          <a:bodyPr wrap="square" anchor="ctr" lIns="0" rIns="0" tIns="27432" bIns="27432">
            <a:spAutoFit/>
          </a:bodyPr>
          <a:lstStyle/>
          <a:p>
            <a:pPr algn="ctr"/>
            <a:r>
              <a:rPr sz="2800" b="1">
                <a:solidFill>
                  <a:srgbClr val="C00000"/>
                </a:solidFill>
                <a:latin typeface="Lato"/>
              </a:rPr>
              <a:t>Don’t ban AI. Guide students to master it.</a:t>
            </a:r>
          </a:p>
        </p:txBody>
      </p:sp>
    </p:spTree>
    <p:extLst>
      <p:ext uri="{BB962C8B-B14F-4D97-AF65-F5344CB8AC3E}">
        <p14:creationId xmlns:p14="http://schemas.microsoft.com/office/powerpoint/2010/main" val="3001568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a:extLst>
              <a:ext uri="{FF2B5EF4-FFF2-40B4-BE49-F238E27FC236}">
                <a16:creationId xmlns:a16="http://schemas.microsoft.com/office/drawing/2014/main" id="{5945A2BB-ABB6-48FB-A491-502474D93E34}"/>
              </a:ext>
            </a:extLst>
          </p:cNvPr>
          <p:cNvSpPr txBox="1">
            <a:spLocks/>
          </p:cNvSpPr>
          <p:nvPr/>
        </p:nvSpPr>
        <p:spPr>
          <a:xfrm>
            <a:off x="5605763" y="2869457"/>
            <a:ext cx="5422456" cy="971304"/>
          </a:xfrm>
          <a:prstGeom prst="rect">
            <a:avLst/>
          </a:prstGeom>
        </p:spPr>
        <p:txBody>
          <a:bodyPr/>
          <a:lstStyle>
            <a:lvl1pPr algn="l" defTabSz="914400" rtl="0" eaLnBrk="1" latinLnBrk="0" hangingPunct="1">
              <a:lnSpc>
                <a:spcPct val="90000"/>
              </a:lnSpc>
              <a:spcBef>
                <a:spcPct val="0"/>
              </a:spcBef>
              <a:buNone/>
              <a:defRPr sz="72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6000" dirty="0"/>
              <a:t>THANK YOU !</a:t>
            </a:r>
          </a:p>
        </p:txBody>
      </p:sp>
      <p:sp>
        <p:nvSpPr>
          <p:cNvPr id="3" name="Slide Number Placeholder 2">
            <a:extLst>
              <a:ext uri="{FF2B5EF4-FFF2-40B4-BE49-F238E27FC236}">
                <a16:creationId xmlns:a16="http://schemas.microsoft.com/office/drawing/2014/main" id="{B255FE58-BA70-418C-863F-55066B6675FB}"/>
              </a:ext>
            </a:extLst>
          </p:cNvPr>
          <p:cNvSpPr>
            <a:spLocks noGrp="1"/>
          </p:cNvSpPr>
          <p:nvPr>
            <p:ph type="sldNum" sz="quarter" idx="12"/>
          </p:nvPr>
        </p:nvSpPr>
        <p:spPr/>
        <p:txBody>
          <a:bodyPr/>
          <a:lstStyle/>
          <a:p>
            <a:fld id="{9EA0BE3B-158A-4EDF-80DC-E394A0D1600F}" type="slidenum">
              <a:rPr lang="en-US" smtClean="0"/>
              <a:pPr/>
              <a:t>13</a:t>
            </a:fld>
            <a:endParaRPr lang="en-US"/>
          </a:p>
        </p:txBody>
      </p:sp>
    </p:spTree>
    <p:extLst>
      <p:ext uri="{BB962C8B-B14F-4D97-AF65-F5344CB8AC3E}">
        <p14:creationId xmlns:p14="http://schemas.microsoft.com/office/powerpoint/2010/main" val="2790627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26</Words>
  <Application>Microsoft Office PowerPoint</Application>
  <PresentationFormat>Màn hình rộng</PresentationFormat>
  <Paragraphs>15</Paragraphs>
  <Slides>13</Slides>
  <Notes>0</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13</vt:i4>
      </vt:variant>
    </vt:vector>
  </HeadingPairs>
  <TitlesOfParts>
    <vt:vector size="17" baseType="lpstr">
      <vt:lpstr>Arial</vt:lpstr>
      <vt:lpstr>Calibri</vt:lpstr>
      <vt:lpstr>Lato</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HUST CCPR</cp:lastModifiedBy>
  <cp:revision>9</cp:revision>
  <dcterms:created xsi:type="dcterms:W3CDTF">2021-05-28T04:32:29Z</dcterms:created>
  <dcterms:modified xsi:type="dcterms:W3CDTF">2022-12-12T04:52:04Z</dcterms:modified>
</cp:coreProperties>
</file>